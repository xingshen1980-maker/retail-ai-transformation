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0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777240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02336"/>
            <a:ext cx="20116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0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IKEA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583680" y="-1097280"/>
            <a:ext cx="4572000" cy="4572000"/>
          </a:xfrm>
          <a:prstGeom prst="ellipse">
            <a:avLst/>
          </a:prstGeom>
          <a:solidFill>
            <a:srgbClr val="FFDA00">
              <a:alpha val="12000"/>
            </a:srgbClr>
          </a:solidFill>
          <a:ln w="12700">
            <a:solidFill>
              <a:srgbClr val="FFDA00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D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INTERNAL STRATEGIC INTELLIGENCE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Retail AI Transformation Weekly Intelligence Report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D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Weekly Intelligence Report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005072"/>
            <a:ext cx="2011680" cy="36576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133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28, 2026  |  Coverage: April 21–28, 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0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Senior Executive Leadership  ·  Internal Strategic Use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164592"/>
            <a:ext cx="822960" cy="329184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16459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0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IKEA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8288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Weekly Core Overview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14173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68680"/>
            <a:ext cx="73152" cy="1417320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914400"/>
            <a:ext cx="7818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 of April 21–28, 2026 marks a decisive inflection point in global retail AI adoption: Walmart's landmark annual report, Amazon's Alexa+ international rollout, and JD.com's JoyAI ecosystem reveal collectively demonstrate that agentic, intent-driven commerce infrastructure is no longer aspirational but measurably operational — reshaping basket economics, workforce architecture, and the fundamental interface between consumer intent and purchase.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4871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0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Companies Covered This Week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52928"/>
            <a:ext cx="1965960" cy="502920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529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Walmart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42032" y="2852928"/>
            <a:ext cx="1965960" cy="502920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42032" y="28529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Amazon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26864" y="2852928"/>
            <a:ext cx="1965960" cy="502920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6864" y="28529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JD.com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11696" y="2852928"/>
            <a:ext cx="1965960" cy="502920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11696" y="28529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Sephora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511296"/>
            <a:ext cx="1965960" cy="502920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51129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Douyin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42032" y="3511296"/>
            <a:ext cx="1965960" cy="502920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42032" y="351129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Alibaba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164592"/>
            <a:ext cx="822960" cy="329184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16459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0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IKEA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Benchmark Enterprise Updates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D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strategic importance · April 21–28, 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4251960" cy="1261872"/>
          </a:xfrm>
          <a:prstGeom prst="rect">
            <a:avLst/>
          </a:prstGeom>
          <a:solidFill>
            <a:srgbClr val="FFFFFF">
              <a:alpha val="6000"/>
            </a:srgbClr>
          </a:solidFill>
          <a:ln w="10160">
            <a:solidFill>
              <a:srgbClr val="FFDA00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78992"/>
            <a:ext cx="50292" cy="1261872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15214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D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Walmart  USA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1426464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report confirms Sparky agentic AI engine; 2.1M employee AI certification programme; Sparky deployed in ChatGPT &amp; 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30352" y="194767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35% higher AOV for Sparky users; e-commerce +24% YoY to $150.4B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28032" y="1078992"/>
            <a:ext cx="4251960" cy="1261872"/>
          </a:xfrm>
          <a:prstGeom prst="rect">
            <a:avLst/>
          </a:prstGeom>
          <a:solidFill>
            <a:srgbClr val="FFFFFF">
              <a:alpha val="6000"/>
            </a:srgbClr>
          </a:solidFill>
          <a:ln w="10160">
            <a:solidFill>
              <a:srgbClr val="FFDA00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28032" y="1078992"/>
            <a:ext cx="50292" cy="1261872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92624" y="115214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D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Amazon  USA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92624" y="1426464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Jassy: rebuild shopping experience from ground up with AI; Alexa+ launched in Spain (April 23); agentic commerce fro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992624" y="194767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3x shopping; AWS AI &gt;$15B run rate; AI forecasting +20% regional accuracy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496312"/>
            <a:ext cx="4251960" cy="1261872"/>
          </a:xfrm>
          <a:prstGeom prst="rect">
            <a:avLst/>
          </a:prstGeom>
          <a:solidFill>
            <a:srgbClr val="FFFFFF">
              <a:alpha val="6000"/>
            </a:srgbClr>
          </a:solidFill>
          <a:ln w="10160">
            <a:solidFill>
              <a:srgbClr val="FFDA00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496312"/>
            <a:ext cx="50292" cy="1261872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256946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D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JD.com  China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0352" y="2843784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JoyAI ecosystem reveal: JoyInside embodied AI, digital human 4.0, Q-EPLB inference engine; AI + Medical Devices strategy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30352" y="336499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3,000 tokens/s/card (2nd globally); live-stream costs cut 90%; 13 consec. quarte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28032" y="2496312"/>
            <a:ext cx="4251960" cy="1261872"/>
          </a:xfrm>
          <a:prstGeom prst="rect">
            <a:avLst/>
          </a:prstGeom>
          <a:solidFill>
            <a:srgbClr val="FFFFFF">
              <a:alpha val="6000"/>
            </a:srgbClr>
          </a:solidFill>
          <a:ln w="10160">
            <a:solidFill>
              <a:srgbClr val="FFDA00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28032" y="2496312"/>
            <a:ext cx="50292" cy="1261872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92624" y="256946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D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Sephora  Global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92624" y="2843784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launched in ChatGPT (US pilot); AI trend forecasting; AR/AI shade-matching; Sephora UK MD at RTS 2026 London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92624" y="336499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Trend response -30-40%; product returns -30%; 80M+ loyalty members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913632"/>
            <a:ext cx="4251960" cy="1261872"/>
          </a:xfrm>
          <a:prstGeom prst="rect">
            <a:avLst/>
          </a:prstGeom>
          <a:solidFill>
            <a:srgbClr val="FFFFFF">
              <a:alpha val="6000"/>
            </a:srgbClr>
          </a:solidFill>
          <a:ln w="10160">
            <a:solidFill>
              <a:srgbClr val="FFDA00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3913632"/>
            <a:ext cx="50292" cy="1261872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398678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D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Douyin  China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0352" y="4261104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digital human live-stream hosts mainstream; Volcengine/Doubao holds ~49% of China LLM public-cloud market; luxury liv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30352" y="478231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GMV ~¥3.5T in 2024 (+30% YoY); luxury sales +40% YoY; 2.09M daily stream viewers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28032" y="3913632"/>
            <a:ext cx="4251960" cy="1261872"/>
          </a:xfrm>
          <a:prstGeom prst="rect">
            <a:avLst/>
          </a:prstGeom>
          <a:solidFill>
            <a:srgbClr val="FFFFFF">
              <a:alpha val="6000"/>
            </a:srgbClr>
          </a:solidFill>
          <a:ln w="10160">
            <a:solidFill>
              <a:srgbClr val="FFDA00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28032" y="3913632"/>
            <a:ext cx="50292" cy="1261872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92624" y="398678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D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Alibaba  China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92624" y="4261104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RMB 380B 3-year AI transformation; Tongyi Qianwen as AI OS; AI healthcare expansion competing with JD &amp; Meituan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992624" y="478231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75% customer service via AI chatbot; RMB 18.8B AI investment in fiscal Q1 alone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164592"/>
            <a:ext cx="822960" cy="329184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16459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0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IKEA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In-Depth Case Analysis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841248"/>
            <a:ext cx="832104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841248"/>
            <a:ext cx="54864" cy="129844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932688"/>
            <a:ext cx="384048" cy="384048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32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0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24128" y="93268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Walmart — Sparky Agentic Commerce Engine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24128" y="131673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Highlight: Multi-step agentic AI deployed across app, ChatGPT &amp; Gemini; 35% higher AOV; 81% shoppers use for pre-purchase validatio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74920" y="131673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 Retail-specific LLMs on proprietary data; multimodal (text/image/voice/video); IKEA-controlled check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24128" y="1682496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Value: 35% higher average order value; demand-capture tool not cost play; retail media +33% YoY; model: own checkout, open disc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304288"/>
            <a:ext cx="832104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304288"/>
            <a:ext cx="54864" cy="129844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395728"/>
            <a:ext cx="384048" cy="384048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0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24128" y="239572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Amazon — Alexa+ Agentic Shopping at Scale (Spain Launch April 23)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24128" y="277977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Highlight: Generative AI shopping assistant now in 6 countries; 3x shopping transactions; full transactional journeys from grocery 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74920" y="27797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 Anthropic Claude LLM; agentic API orchestration; persistent memory across 600M+ devices, mobile &amp; we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4128" y="3145536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Value: 3x purchases; 2-3x conversations; AWS AI &gt;$15B run rate; CEO: 'AI is a multiplier, not a standalone initiative'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3767328"/>
            <a:ext cx="832104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3767328"/>
            <a:ext cx="54864" cy="129844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858768"/>
            <a:ext cx="384048" cy="384048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0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24128" y="385876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JD.com — JoyAI Ecosystem &amp; Digital Human Live Commerce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24128" y="424281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Highlight: Full-stack AI: embodied intelligence, digital human hosts (90% cost cut), Q-EPLB ranked 2nd globally at 3,000 tokens/s/c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74920" y="42428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 JoyInside embodied AI; Digital Human 4.0; Oxygen AI for recommendations; JoyAgent 3.0 enterprise dep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024128" y="4608576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Value: 90% live-stream cost reduction; 13 consecutive quarters margin growth; 150B yuan R&amp;D since 2017; 1M medical device integ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30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280160" cy="530352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30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IKEA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920240" y="2560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Actionable Recommendations for IKEA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920240" y="7315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D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this week's developments · Immediately actionable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425196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 w="10160">
            <a:solidFill>
              <a:srgbClr val="FFDA00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15568"/>
            <a:ext cx="50292" cy="1371600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207008"/>
            <a:ext cx="3995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D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 Deploy IKEA Agentic Commerce Agent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1572768"/>
            <a:ext cx="39959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Walmart's Sparky: 35% higher AOV. IKEA's high-consideration model (room planning, furnishings) is ideal. Build conversational AI with real-time inventory. Maintain IKEA-controlled checkout — do not delegate to third-party platforms.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28032" y="1115568"/>
            <a:ext cx="425196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 w="10160">
            <a:solidFill>
              <a:srgbClr val="FFDA00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28032" y="1115568"/>
            <a:ext cx="50292" cy="1371600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92624" y="1207008"/>
            <a:ext cx="3995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D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Embed IKEA in ChatGPT &amp; Gemini Now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92624" y="1572768"/>
            <a:ext cx="39959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Sephora launched in ChatGPT; Walmart Sparky lives in Gemini. If consumers search 'small bedroom furniture' in AI platforms and IKEA is absent, a competitor wins that discovery moment. Deploy via Agentic Commerce Protocol.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651760"/>
            <a:ext cx="425196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 w="10160">
            <a:solidFill>
              <a:srgbClr val="FFDA00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651760"/>
            <a:ext cx="50292" cy="1371600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743200"/>
            <a:ext cx="3995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D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AI Trend-to-Product Pipeline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" y="3108960"/>
            <a:ext cx="39959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Walmart: concept-to-shelf compressed from 26 to 6–8 weeks. Sephora: trend response -30-40%. Build an AI tool ingesting cultural signals (Pinterest, TikTok) to accelerate IKEA assortment planning by 50%.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28032" y="2651760"/>
            <a:ext cx="425196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 w="10160">
            <a:solidFill>
              <a:srgbClr val="FFDA00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28032" y="2651760"/>
            <a:ext cx="50292" cy="1371600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92624" y="2743200"/>
            <a:ext cx="3995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D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Pilot AI Digital Human for Live Commerce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92624" y="3108960"/>
            <a:ext cx="39959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JD.com cut live-stream costs 90% via AI digital hosts. Pilot AI virtual IKEA home design consultants on Douyin (China) and TikTok Shop. Measure conversion vs. human-hosted sessions.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331720" y="4187952"/>
            <a:ext cx="457200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 w="10160">
            <a:solidFill>
              <a:srgbClr val="FFDA00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31720" y="4187952"/>
            <a:ext cx="50292" cy="1371600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96312" y="4279392"/>
            <a:ext cx="4315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D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 AI Workforce Certification Programme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96312" y="4645152"/>
            <a:ext cx="43159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 certifying 2.1M employees. IKEA's 220K+ co-workers are an asset — systematically reskill in AI-assisted inventory, service tools, and room planning before scaling customer-facing agents.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164592"/>
            <a:ext cx="822960" cy="329184"/>
          </a:xfrm>
          <a:prstGeom prst="rect">
            <a:avLst/>
          </a:prstGeom>
          <a:solidFill>
            <a:srgbClr val="FFDA00"/>
          </a:solidFill>
          <a:ln w="12700">
            <a:solidFill>
              <a:srgbClr val="FFDA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16459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0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IKEA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Risks &amp; Observations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822960"/>
            <a:ext cx="83210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822960"/>
            <a:ext cx="54864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896112"/>
            <a:ext cx="914400" cy="2377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9052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88696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Third-Party AI Platform Disintermediation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117043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ChatGPT/Gemini/Perplexity become primary discovery interfaces and IKEA is absent, we risk becoming a commoditised logistics layer. Walmart ended OpenAI Insta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1737360"/>
            <a:ext cx="83210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1737360"/>
            <a:ext cx="54864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0" y="1810512"/>
            <a:ext cx="914400" cy="2377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0" y="18196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MEDIUM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4360" y="180136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Accuracy &amp; Customer Trust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08483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acknowledges Alexa+ misfires; Walmart labels Sparky results 'may not be fully accurate.' For IKEA, incorrect dimensions or incompatible recommendations 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2651760"/>
            <a:ext cx="83210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2651760"/>
            <a:ext cx="54864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2724912"/>
            <a:ext cx="914400" cy="2377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0" y="27340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MEDIUM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94360" y="271576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EU AI Act &amp; Global Regulatory Compliance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299923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(fully enforced 2026), Colorado AI Act (Feb 2026), 18 California AI laws impose transparency and impact-assessment obligations. All AI pricing, recomm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3566160"/>
            <a:ext cx="83210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3566160"/>
            <a:ext cx="54864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0" y="3639312"/>
            <a:ext cx="91440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0" y="36484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94360" y="363016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Infrastructure Cost vs. ROI Timeline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4360" y="391363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$200B CapEx (+50% YoY); Alibaba RMB 380B 3-year budget. Analysts draw parallels to 1990s telecom overbuilding. For IKEA: invest in purpose-built, specifi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2920" y="4498848"/>
            <a:ext cx="81381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5902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0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920" y="48097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Dive (Apr 23 2026) · PYMNTS (Apr 23 2026) · Fox Business (Apr 2026) · Amazon Newsroom (Apr 23 2026) · Sephora Newsroom (Mar 24 2026) · TMTPOST · Yicai Global (Apr 15 2026) · Constellation Research · Supply Chain Dive · Cosmetics Business 2026 · Simply Wall St · NVIDIA State of AI in Retail &amp; CPG 2026 · dunnhumby Retail Innovation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2026-04-28T02:25:58Z</dcterms:created>
  <dcterms:modified xsi:type="dcterms:W3CDTF">2026-04-28T02:25:58Z</dcterms:modified>
</cp:coreProperties>
</file>