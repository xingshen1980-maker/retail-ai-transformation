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457200" y="365760"/>
            <a:ext cx="2011680" cy="777240"/>
          </a:xfrm>
          <a:prstGeom prst="rect">
            <a:avLst/>
          </a:prstGeom>
          <a:solidFill>
            <a:srgbClr val="FFDA00"/>
          </a:solidFill>
          <a:ln w="12700">
            <a:solidFill>
              <a:srgbClr val="FFDA00"/>
            </a:solidFill>
            <a:prstDash val="solid"/>
          </a:ln>
        </p:spPr>
      </p:sp>
      <p:sp>
        <p:nvSpPr>
          <p:cNvPr id="3" name="Text 1"/>
          <p:cNvSpPr/>
          <p:nvPr/>
        </p:nvSpPr>
        <p:spPr>
          <a:xfrm>
            <a:off x="457200" y="402336"/>
            <a:ext cx="2011680" cy="704088"/>
          </a:xfrm>
          <a:prstGeom prst="rect">
            <a:avLst/>
          </a:prstGeom>
          <a:noFill/>
          <a:ln/>
        </p:spPr>
        <p:txBody>
          <a:bodyPr wrap="square" lIns="0" tIns="0" rIns="0" bIns="0" rtlCol="0" anchor="ctr"/>
          <a:lstStyle/>
          <a:p>
            <a:pPr algn="ctr" indent="0" marL="0">
              <a:buNone/>
            </a:pPr>
            <a:r>
              <a:rPr lang="en-US" sz="3600" b="1" dirty="0">
                <a:solidFill>
                  <a:srgbClr val="003087"/>
                </a:solidFill>
                <a:latin typeface="Trebuchet MS" pitchFamily="34" charset="0"/>
                <a:ea typeface="Trebuchet MS" pitchFamily="34" charset="-122"/>
                <a:cs typeface="Trebuchet MS" pitchFamily="34" charset="-120"/>
              </a:rPr>
              <a:t>IKEA</a:t>
            </a:r>
            <a:endParaRPr lang="en-US" sz="3600" dirty="0"/>
          </a:p>
        </p:txBody>
      </p:sp>
      <p:sp>
        <p:nvSpPr>
          <p:cNvPr id="4" name="Shape 2"/>
          <p:cNvSpPr/>
          <p:nvPr/>
        </p:nvSpPr>
        <p:spPr>
          <a:xfrm>
            <a:off x="6583680" y="-1097280"/>
            <a:ext cx="4572000" cy="4572000"/>
          </a:xfrm>
          <a:prstGeom prst="ellipse">
            <a:avLst/>
          </a:prstGeom>
          <a:solidFill>
            <a:srgbClr val="FFDA00">
              <a:alpha val="12000"/>
            </a:srgbClr>
          </a:solidFill>
          <a:ln w="12700">
            <a:solidFill>
              <a:srgbClr val="FFDA00">
                <a:alpha val="12000"/>
              </a:srgbClr>
            </a:solidFill>
            <a:prstDash val="solid"/>
          </a:ln>
        </p:spPr>
      </p:sp>
      <p:sp>
        <p:nvSpPr>
          <p:cNvPr id="5" name="Text 3"/>
          <p:cNvSpPr/>
          <p:nvPr/>
        </p:nvSpPr>
        <p:spPr>
          <a:xfrm>
            <a:off x="548640" y="1417320"/>
            <a:ext cx="7315200" cy="274320"/>
          </a:xfrm>
          <a:prstGeom prst="rect">
            <a:avLst/>
          </a:prstGeom>
          <a:noFill/>
          <a:ln/>
        </p:spPr>
        <p:txBody>
          <a:bodyPr wrap="square" lIns="0" tIns="0" rIns="0" bIns="0" rtlCol="0" anchor="ctr"/>
          <a:lstStyle/>
          <a:p>
            <a:pPr algn="l" indent="0" marL="0">
              <a:buNone/>
            </a:pPr>
            <a:r>
              <a:rPr lang="en-US" sz="900" b="1" spc="300" kern="0" dirty="0">
                <a:solidFill>
                  <a:srgbClr val="FFDA00"/>
                </a:solidFill>
                <a:latin typeface="Trebuchet MS" pitchFamily="34" charset="0"/>
                <a:ea typeface="Trebuchet MS" pitchFamily="34" charset="-122"/>
                <a:cs typeface="Trebuchet MS" pitchFamily="34" charset="-120"/>
              </a:rPr>
              <a:t>INTERNAL STRATEGIC INTELLIGENCE</a:t>
            </a:r>
            <a:endParaRPr lang="en-US" sz="900" dirty="0"/>
          </a:p>
        </p:txBody>
      </p:sp>
      <p:sp>
        <p:nvSpPr>
          <p:cNvPr id="6" name="Text 4"/>
          <p:cNvSpPr/>
          <p:nvPr/>
        </p:nvSpPr>
        <p:spPr>
          <a:xfrm>
            <a:off x="548640" y="1783080"/>
            <a:ext cx="8046720" cy="1645920"/>
          </a:xfrm>
          <a:prstGeom prst="rect">
            <a:avLst/>
          </a:prstGeom>
          <a:noFill/>
          <a:ln/>
        </p:spPr>
        <p:txBody>
          <a:bodyPr wrap="square" lIns="0" tIns="0" rIns="0" bIns="0" rtlCol="0" anchor="ctr"/>
          <a:lstStyle/>
          <a:p>
            <a:pPr algn="l" indent="0" marL="0">
              <a:buNone/>
            </a:pPr>
            <a:r>
              <a:rPr lang="en-US" sz="3200" b="1" dirty="0">
                <a:solidFill>
                  <a:srgbClr val="FFFFFF"/>
                </a:solidFill>
                <a:latin typeface="Trebuchet MS" pitchFamily="34" charset="0"/>
                <a:ea typeface="Trebuchet MS" pitchFamily="34" charset="-122"/>
                <a:cs typeface="Trebuchet MS" pitchFamily="34" charset="-120"/>
              </a:rPr>
              <a:t>Global Retail AI Transformation Intelligence Report</a:t>
            </a:r>
            <a:endParaRPr lang="en-US" sz="3200" dirty="0"/>
          </a:p>
        </p:txBody>
      </p:sp>
      <p:sp>
        <p:nvSpPr>
          <p:cNvPr id="7" name="Text 5"/>
          <p:cNvSpPr/>
          <p:nvPr/>
        </p:nvSpPr>
        <p:spPr>
          <a:xfrm>
            <a:off x="548640" y="3520440"/>
            <a:ext cx="6400800" cy="384048"/>
          </a:xfrm>
          <a:prstGeom prst="rect">
            <a:avLst/>
          </a:prstGeom>
          <a:noFill/>
          <a:ln/>
        </p:spPr>
        <p:txBody>
          <a:bodyPr wrap="square" lIns="0" tIns="0" rIns="0" bIns="0" rtlCol="0" anchor="ctr"/>
          <a:lstStyle/>
          <a:p>
            <a:pPr algn="l" indent="0" marL="0">
              <a:buNone/>
            </a:pPr>
            <a:r>
              <a:rPr lang="en-US" sz="1600" dirty="0">
                <a:solidFill>
                  <a:srgbClr val="FFDA00"/>
                </a:solidFill>
                <a:latin typeface="Trebuchet MS" pitchFamily="34" charset="0"/>
                <a:ea typeface="Trebuchet MS" pitchFamily="34" charset="-122"/>
                <a:cs typeface="Trebuchet MS" pitchFamily="34" charset="-120"/>
              </a:rPr>
              <a:t>Weekly Intelligence Report</a:t>
            </a:r>
            <a:endParaRPr lang="en-US" sz="1600" dirty="0"/>
          </a:p>
        </p:txBody>
      </p:sp>
      <p:sp>
        <p:nvSpPr>
          <p:cNvPr id="8" name="Shape 6"/>
          <p:cNvSpPr/>
          <p:nvPr/>
        </p:nvSpPr>
        <p:spPr>
          <a:xfrm>
            <a:off x="548640" y="4005072"/>
            <a:ext cx="2011680" cy="36576"/>
          </a:xfrm>
          <a:prstGeom prst="rect">
            <a:avLst/>
          </a:prstGeom>
          <a:solidFill>
            <a:srgbClr val="FFDA00"/>
          </a:solidFill>
          <a:ln w="12700">
            <a:solidFill>
              <a:srgbClr val="FFDA00"/>
            </a:solidFill>
            <a:prstDash val="solid"/>
          </a:ln>
        </p:spPr>
      </p:sp>
      <p:sp>
        <p:nvSpPr>
          <p:cNvPr id="9" name="Text 7"/>
          <p:cNvSpPr/>
          <p:nvPr/>
        </p:nvSpPr>
        <p:spPr>
          <a:xfrm>
            <a:off x="548640" y="4133088"/>
            <a:ext cx="7315200" cy="256032"/>
          </a:xfrm>
          <a:prstGeom prst="rect">
            <a:avLst/>
          </a:prstGeom>
          <a:noFill/>
          <a:ln/>
        </p:spPr>
        <p:txBody>
          <a:bodyPr wrap="square" lIns="0" tIns="0" rIns="0" bIns="0" rtlCol="0" anchor="ctr"/>
          <a:lstStyle/>
          <a:p>
            <a:pPr algn="l" indent="0" marL="0">
              <a:buNone/>
            </a:pPr>
            <a:r>
              <a:rPr lang="en-US" sz="1100" dirty="0">
                <a:solidFill>
                  <a:srgbClr val="CBD5E1"/>
                </a:solidFill>
                <a:latin typeface="Calibri" pitchFamily="34" charset="0"/>
                <a:ea typeface="Calibri" pitchFamily="34" charset="-122"/>
                <a:cs typeface="Calibri" pitchFamily="34" charset="-120"/>
              </a:rPr>
              <a:t>April 19, 2026  ·  Senior Executive Leadership — IKEA Group</a:t>
            </a:r>
            <a:endParaRPr lang="en-US" sz="1100" dirty="0"/>
          </a:p>
        </p:txBody>
      </p:sp>
      <p:sp>
        <p:nvSpPr>
          <p:cNvPr id="10" name="Shape 8"/>
          <p:cNvSpPr/>
          <p:nvPr/>
        </p:nvSpPr>
        <p:spPr>
          <a:xfrm>
            <a:off x="0" y="4873752"/>
            <a:ext cx="9144000" cy="274320"/>
          </a:xfrm>
          <a:prstGeom prst="rect">
            <a:avLst/>
          </a:prstGeom>
          <a:solidFill>
            <a:srgbClr val="FFDA00"/>
          </a:solidFill>
          <a:ln w="12700">
            <a:solidFill>
              <a:srgbClr val="FFDA00"/>
            </a:solidFill>
            <a:prstDash val="solid"/>
          </a:ln>
        </p:spPr>
      </p:sp>
      <p:sp>
        <p:nvSpPr>
          <p:cNvPr id="11" name="Text 9"/>
          <p:cNvSpPr/>
          <p:nvPr/>
        </p:nvSpPr>
        <p:spPr>
          <a:xfrm>
            <a:off x="457200" y="4892040"/>
            <a:ext cx="8229600" cy="228600"/>
          </a:xfrm>
          <a:prstGeom prst="rect">
            <a:avLst/>
          </a:prstGeom>
          <a:noFill/>
          <a:ln/>
        </p:spPr>
        <p:txBody>
          <a:bodyPr wrap="square" lIns="0" tIns="0" rIns="0" bIns="0" rtlCol="0" anchor="ctr"/>
          <a:lstStyle/>
          <a:p>
            <a:pPr algn="ctr" indent="0" marL="0">
              <a:buNone/>
            </a:pPr>
            <a:r>
              <a:rPr lang="en-US" sz="900" b="1" dirty="0">
                <a:solidFill>
                  <a:srgbClr val="003087"/>
                </a:solidFill>
                <a:latin typeface="Trebuchet MS" pitchFamily="34" charset="0"/>
                <a:ea typeface="Trebuchet MS" pitchFamily="34" charset="-122"/>
                <a:cs typeface="Trebuchet MS" pitchFamily="34" charset="-120"/>
              </a:rPr>
              <a:t>Senior Executive Leadership  ·  Internal Strategic Use Only</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3087"/>
          </a:solidFill>
          <a:ln w="12700">
            <a:solidFill>
              <a:srgbClr val="003087"/>
            </a:solidFill>
            <a:prstDash val="solid"/>
          </a:ln>
        </p:spPr>
      </p:sp>
      <p:sp>
        <p:nvSpPr>
          <p:cNvPr id="3" name="Shape 1"/>
          <p:cNvSpPr/>
          <p:nvPr/>
        </p:nvSpPr>
        <p:spPr>
          <a:xfrm>
            <a:off x="8046720" y="164592"/>
            <a:ext cx="822960" cy="329184"/>
          </a:xfrm>
          <a:prstGeom prst="rect">
            <a:avLst/>
          </a:prstGeom>
          <a:solidFill>
            <a:srgbClr val="FFDA00"/>
          </a:solidFill>
          <a:ln w="12700">
            <a:solidFill>
              <a:srgbClr val="FFDA00"/>
            </a:solidFill>
            <a:prstDash val="solid"/>
          </a:ln>
        </p:spPr>
      </p:sp>
      <p:sp>
        <p:nvSpPr>
          <p:cNvPr id="4" name="Text 2"/>
          <p:cNvSpPr/>
          <p:nvPr/>
        </p:nvSpPr>
        <p:spPr>
          <a:xfrm>
            <a:off x="8046720" y="164592"/>
            <a:ext cx="822960" cy="329184"/>
          </a:xfrm>
          <a:prstGeom prst="rect">
            <a:avLst/>
          </a:prstGeom>
          <a:noFill/>
          <a:ln/>
        </p:spPr>
        <p:txBody>
          <a:bodyPr wrap="square" lIns="0" tIns="0" rIns="0" bIns="0" rtlCol="0" anchor="ctr"/>
          <a:lstStyle/>
          <a:p>
            <a:pPr algn="ctr" indent="0" marL="0">
              <a:buNone/>
            </a:pPr>
            <a:r>
              <a:rPr lang="en-US" sz="1400" b="1" dirty="0">
                <a:solidFill>
                  <a:srgbClr val="003087"/>
                </a:solidFill>
                <a:latin typeface="Trebuchet MS" pitchFamily="34" charset="0"/>
                <a:ea typeface="Trebuchet MS" pitchFamily="34" charset="-122"/>
                <a:cs typeface="Trebuchet MS" pitchFamily="34" charset="-120"/>
              </a:rPr>
              <a:t>IKEA</a:t>
            </a:r>
            <a:endParaRPr lang="en-US" sz="1400" dirty="0"/>
          </a:p>
        </p:txBody>
      </p:sp>
      <p:sp>
        <p:nvSpPr>
          <p:cNvPr id="5" name="Text 3"/>
          <p:cNvSpPr/>
          <p:nvPr/>
        </p:nvSpPr>
        <p:spPr>
          <a:xfrm>
            <a:off x="502920" y="182880"/>
            <a:ext cx="7315200" cy="530352"/>
          </a:xfrm>
          <a:prstGeom prst="rect">
            <a:avLst/>
          </a:prstGeom>
          <a:noFill/>
          <a:ln/>
        </p:spPr>
        <p:txBody>
          <a:bodyPr wrap="square" lIns="0" tIns="0" rIns="0" bIns="0" rtlCol="0" anchor="ctr"/>
          <a:lstStyle/>
          <a:p>
            <a:pPr algn="l" indent="0" marL="0">
              <a:buNone/>
            </a:pPr>
            <a:r>
              <a:rPr lang="en-US" sz="2600" b="1" dirty="0">
                <a:solidFill>
                  <a:srgbClr val="111827"/>
                </a:solidFill>
                <a:latin typeface="Trebuchet MS" pitchFamily="34" charset="0"/>
                <a:ea typeface="Trebuchet MS" pitchFamily="34" charset="-122"/>
                <a:cs typeface="Trebuchet MS" pitchFamily="34" charset="-120"/>
              </a:rPr>
              <a:t>Weekly Core Overview</a:t>
            </a:r>
            <a:endParaRPr lang="en-US" sz="2600" dirty="0"/>
          </a:p>
        </p:txBody>
      </p:sp>
      <p:sp>
        <p:nvSpPr>
          <p:cNvPr id="6" name="Shape 4"/>
          <p:cNvSpPr/>
          <p:nvPr/>
        </p:nvSpPr>
        <p:spPr>
          <a:xfrm>
            <a:off x="457200" y="868680"/>
            <a:ext cx="8229600" cy="1508760"/>
          </a:xfrm>
          <a:prstGeom prst="rect">
            <a:avLst/>
          </a:prstGeom>
          <a:solidFill>
            <a:srgbClr val="003087"/>
          </a:solidFill>
          <a:ln w="12700">
            <a:solidFill>
              <a:srgbClr val="003087"/>
            </a:solidFill>
            <a:prstDash val="solid"/>
          </a:ln>
          <a:effectLst>
            <a:outerShdw sx="100000" sy="100000" kx="0" ky="0" algn="bl" rotWithShape="0" blurRad="101600" dist="25400" dir="8100000">
              <a:srgbClr val="000000">
                <a:alpha val="10000"/>
              </a:srgbClr>
            </a:outerShdw>
          </a:effectLst>
        </p:spPr>
      </p:sp>
      <p:sp>
        <p:nvSpPr>
          <p:cNvPr id="7" name="Shape 5"/>
          <p:cNvSpPr/>
          <p:nvPr/>
        </p:nvSpPr>
        <p:spPr>
          <a:xfrm>
            <a:off x="457200" y="868680"/>
            <a:ext cx="73152" cy="1508760"/>
          </a:xfrm>
          <a:prstGeom prst="rect">
            <a:avLst/>
          </a:prstGeom>
          <a:solidFill>
            <a:srgbClr val="FFDA00"/>
          </a:solidFill>
          <a:ln w="12700">
            <a:solidFill>
              <a:srgbClr val="FFDA00"/>
            </a:solidFill>
            <a:prstDash val="solid"/>
          </a:ln>
        </p:spPr>
      </p:sp>
      <p:sp>
        <p:nvSpPr>
          <p:cNvPr id="8" name="Text 6"/>
          <p:cNvSpPr/>
          <p:nvPr/>
        </p:nvSpPr>
        <p:spPr>
          <a:xfrm>
            <a:off x="685800" y="914400"/>
            <a:ext cx="7818120" cy="1417320"/>
          </a:xfrm>
          <a:prstGeom prst="rect">
            <a:avLst/>
          </a:prstGeom>
          <a:noFill/>
          <a:ln/>
        </p:spPr>
        <p:txBody>
          <a:bodyPr wrap="square" lIns="0" tIns="0" rIns="0" bIns="0" rtlCol="0" anchor="ctr"/>
          <a:lstStyle/>
          <a:p>
            <a:pPr algn="l" indent="0" marL="0">
              <a:lnSpc>
                <a:spcPct val="140000"/>
              </a:lnSpc>
              <a:buNone/>
            </a:pPr>
            <a:r>
              <a:rPr lang="en-US" sz="1350" dirty="0">
                <a:solidFill>
                  <a:srgbClr val="FFFFFF"/>
                </a:solidFill>
                <a:latin typeface="Calibri" pitchFamily="34" charset="0"/>
                <a:ea typeface="Calibri" pitchFamily="34" charset="-122"/>
                <a:cs typeface="Calibri" pitchFamily="34" charset="-120"/>
              </a:rPr>
              <a:t>This week's global retail AI landscape is defined by an accelerating convergence of agentic AI, physical store reinvention, and cross-platform conversational commerce — as Walmart and Amazon double down on infrastructure-scale automation, Sephora brings ChatGPT-native shopping to 80+ million beauty members, and Chinese platforms JD.com and Douyin deepen AI ecosystems into healthcare and luxury, all against the backdrop of escalating US tariff pressures reshaping supply chain investment strategies worldwide.</a:t>
            </a:r>
            <a:endParaRPr lang="en-US" sz="1350" dirty="0"/>
          </a:p>
        </p:txBody>
      </p:sp>
      <p:sp>
        <p:nvSpPr>
          <p:cNvPr id="9" name="Text 7"/>
          <p:cNvSpPr/>
          <p:nvPr/>
        </p:nvSpPr>
        <p:spPr>
          <a:xfrm>
            <a:off x="502920" y="2578608"/>
            <a:ext cx="4572000" cy="292608"/>
          </a:xfrm>
          <a:prstGeom prst="rect">
            <a:avLst/>
          </a:prstGeom>
          <a:noFill/>
          <a:ln/>
        </p:spPr>
        <p:txBody>
          <a:bodyPr wrap="square" lIns="0" tIns="0" rIns="0" bIns="0" rtlCol="0" anchor="ctr"/>
          <a:lstStyle/>
          <a:p>
            <a:pPr indent="0" marL="0">
              <a:buNone/>
            </a:pPr>
            <a:r>
              <a:rPr lang="en-US" sz="1100" b="1" dirty="0">
                <a:solidFill>
                  <a:srgbClr val="003087"/>
                </a:solidFill>
                <a:latin typeface="Trebuchet MS" pitchFamily="34" charset="0"/>
                <a:ea typeface="Trebuchet MS" pitchFamily="34" charset="-122"/>
                <a:cs typeface="Trebuchet MS" pitchFamily="34" charset="-120"/>
              </a:rPr>
              <a:t>Companies Covered This Week</a:t>
            </a:r>
            <a:endParaRPr lang="en-US" sz="1100" dirty="0"/>
          </a:p>
        </p:txBody>
      </p:sp>
      <p:sp>
        <p:nvSpPr>
          <p:cNvPr id="10" name="Shape 8"/>
          <p:cNvSpPr/>
          <p:nvPr/>
        </p:nvSpPr>
        <p:spPr>
          <a:xfrm>
            <a:off x="457200" y="2944368"/>
            <a:ext cx="1965960" cy="502920"/>
          </a:xfrm>
          <a:prstGeom prst="rect">
            <a:avLst/>
          </a:prstGeom>
          <a:solidFill>
            <a:srgbClr val="FFDA00"/>
          </a:solidFill>
          <a:ln w="12700">
            <a:solidFill>
              <a:srgbClr val="FFDA00"/>
            </a:solidFill>
            <a:prstDash val="solid"/>
          </a:ln>
        </p:spPr>
      </p:sp>
      <p:sp>
        <p:nvSpPr>
          <p:cNvPr id="11" name="Text 9"/>
          <p:cNvSpPr/>
          <p:nvPr/>
        </p:nvSpPr>
        <p:spPr>
          <a:xfrm>
            <a:off x="457200" y="2944368"/>
            <a:ext cx="1965960" cy="502920"/>
          </a:xfrm>
          <a:prstGeom prst="rect">
            <a:avLst/>
          </a:prstGeom>
          <a:noFill/>
          <a:ln/>
        </p:spPr>
        <p:txBody>
          <a:bodyPr wrap="square" lIns="0" tIns="0" rIns="0" bIns="0" rtlCol="0" anchor="ctr"/>
          <a:lstStyle/>
          <a:p>
            <a:pPr algn="ctr" indent="0" marL="0">
              <a:buNone/>
            </a:pPr>
            <a:r>
              <a:rPr lang="en-US" sz="1200" b="1" dirty="0">
                <a:solidFill>
                  <a:srgbClr val="003087"/>
                </a:solidFill>
                <a:latin typeface="Trebuchet MS" pitchFamily="34" charset="0"/>
                <a:ea typeface="Trebuchet MS" pitchFamily="34" charset="-122"/>
                <a:cs typeface="Trebuchet MS" pitchFamily="34" charset="-120"/>
              </a:rPr>
              <a:t>Walmart</a:t>
            </a:r>
            <a:endParaRPr lang="en-US" sz="1200" dirty="0"/>
          </a:p>
        </p:txBody>
      </p:sp>
      <p:sp>
        <p:nvSpPr>
          <p:cNvPr id="12" name="Shape 10"/>
          <p:cNvSpPr/>
          <p:nvPr/>
        </p:nvSpPr>
        <p:spPr>
          <a:xfrm>
            <a:off x="2542032" y="2944368"/>
            <a:ext cx="1965960" cy="502920"/>
          </a:xfrm>
          <a:prstGeom prst="rect">
            <a:avLst/>
          </a:prstGeom>
          <a:solidFill>
            <a:srgbClr val="FFDA00"/>
          </a:solidFill>
          <a:ln w="12700">
            <a:solidFill>
              <a:srgbClr val="FFDA00"/>
            </a:solidFill>
            <a:prstDash val="solid"/>
          </a:ln>
        </p:spPr>
      </p:sp>
      <p:sp>
        <p:nvSpPr>
          <p:cNvPr id="13" name="Text 11"/>
          <p:cNvSpPr/>
          <p:nvPr/>
        </p:nvSpPr>
        <p:spPr>
          <a:xfrm>
            <a:off x="2542032" y="2944368"/>
            <a:ext cx="1965960" cy="502920"/>
          </a:xfrm>
          <a:prstGeom prst="rect">
            <a:avLst/>
          </a:prstGeom>
          <a:noFill/>
          <a:ln/>
        </p:spPr>
        <p:txBody>
          <a:bodyPr wrap="square" lIns="0" tIns="0" rIns="0" bIns="0" rtlCol="0" anchor="ctr"/>
          <a:lstStyle/>
          <a:p>
            <a:pPr algn="ctr" indent="0" marL="0">
              <a:buNone/>
            </a:pPr>
            <a:r>
              <a:rPr lang="en-US" sz="1200" b="1" dirty="0">
                <a:solidFill>
                  <a:srgbClr val="003087"/>
                </a:solidFill>
                <a:latin typeface="Trebuchet MS" pitchFamily="34" charset="0"/>
                <a:ea typeface="Trebuchet MS" pitchFamily="34" charset="-122"/>
                <a:cs typeface="Trebuchet MS" pitchFamily="34" charset="-120"/>
              </a:rPr>
              <a:t>Amazon</a:t>
            </a:r>
            <a:endParaRPr lang="en-US" sz="1200" dirty="0"/>
          </a:p>
        </p:txBody>
      </p:sp>
      <p:sp>
        <p:nvSpPr>
          <p:cNvPr id="14" name="Shape 12"/>
          <p:cNvSpPr/>
          <p:nvPr/>
        </p:nvSpPr>
        <p:spPr>
          <a:xfrm>
            <a:off x="4626864" y="2944368"/>
            <a:ext cx="1965960" cy="502920"/>
          </a:xfrm>
          <a:prstGeom prst="rect">
            <a:avLst/>
          </a:prstGeom>
          <a:solidFill>
            <a:srgbClr val="FFDA00"/>
          </a:solidFill>
          <a:ln w="12700">
            <a:solidFill>
              <a:srgbClr val="FFDA00"/>
            </a:solidFill>
            <a:prstDash val="solid"/>
          </a:ln>
        </p:spPr>
      </p:sp>
      <p:sp>
        <p:nvSpPr>
          <p:cNvPr id="15" name="Text 13"/>
          <p:cNvSpPr/>
          <p:nvPr/>
        </p:nvSpPr>
        <p:spPr>
          <a:xfrm>
            <a:off x="4626864" y="2944368"/>
            <a:ext cx="1965960" cy="502920"/>
          </a:xfrm>
          <a:prstGeom prst="rect">
            <a:avLst/>
          </a:prstGeom>
          <a:noFill/>
          <a:ln/>
        </p:spPr>
        <p:txBody>
          <a:bodyPr wrap="square" lIns="0" tIns="0" rIns="0" bIns="0" rtlCol="0" anchor="ctr"/>
          <a:lstStyle/>
          <a:p>
            <a:pPr algn="ctr" indent="0" marL="0">
              <a:buNone/>
            </a:pPr>
            <a:r>
              <a:rPr lang="en-US" sz="1200" b="1" dirty="0">
                <a:solidFill>
                  <a:srgbClr val="003087"/>
                </a:solidFill>
                <a:latin typeface="Trebuchet MS" pitchFamily="34" charset="0"/>
                <a:ea typeface="Trebuchet MS" pitchFamily="34" charset="-122"/>
                <a:cs typeface="Trebuchet MS" pitchFamily="34" charset="-120"/>
              </a:rPr>
              <a:t>Sephora</a:t>
            </a:r>
            <a:endParaRPr lang="en-US" sz="1200" dirty="0"/>
          </a:p>
        </p:txBody>
      </p:sp>
      <p:sp>
        <p:nvSpPr>
          <p:cNvPr id="16" name="Shape 14"/>
          <p:cNvSpPr/>
          <p:nvPr/>
        </p:nvSpPr>
        <p:spPr>
          <a:xfrm>
            <a:off x="6711696" y="2944368"/>
            <a:ext cx="1965960" cy="502920"/>
          </a:xfrm>
          <a:prstGeom prst="rect">
            <a:avLst/>
          </a:prstGeom>
          <a:solidFill>
            <a:srgbClr val="FFDA00"/>
          </a:solidFill>
          <a:ln w="12700">
            <a:solidFill>
              <a:srgbClr val="FFDA00"/>
            </a:solidFill>
            <a:prstDash val="solid"/>
          </a:ln>
        </p:spPr>
      </p:sp>
      <p:sp>
        <p:nvSpPr>
          <p:cNvPr id="17" name="Text 15"/>
          <p:cNvSpPr/>
          <p:nvPr/>
        </p:nvSpPr>
        <p:spPr>
          <a:xfrm>
            <a:off x="6711696" y="2944368"/>
            <a:ext cx="1965960" cy="502920"/>
          </a:xfrm>
          <a:prstGeom prst="rect">
            <a:avLst/>
          </a:prstGeom>
          <a:noFill/>
          <a:ln/>
        </p:spPr>
        <p:txBody>
          <a:bodyPr wrap="square" lIns="0" tIns="0" rIns="0" bIns="0" rtlCol="0" anchor="ctr"/>
          <a:lstStyle/>
          <a:p>
            <a:pPr algn="ctr" indent="0" marL="0">
              <a:buNone/>
            </a:pPr>
            <a:r>
              <a:rPr lang="en-US" sz="1200" b="1" dirty="0">
                <a:solidFill>
                  <a:srgbClr val="003087"/>
                </a:solidFill>
                <a:latin typeface="Trebuchet MS" pitchFamily="34" charset="0"/>
                <a:ea typeface="Trebuchet MS" pitchFamily="34" charset="-122"/>
                <a:cs typeface="Trebuchet MS" pitchFamily="34" charset="-120"/>
              </a:rPr>
              <a:t>JD.com</a:t>
            </a:r>
            <a:endParaRPr lang="en-US" sz="1200" dirty="0"/>
          </a:p>
        </p:txBody>
      </p:sp>
      <p:sp>
        <p:nvSpPr>
          <p:cNvPr id="18" name="Shape 16"/>
          <p:cNvSpPr/>
          <p:nvPr/>
        </p:nvSpPr>
        <p:spPr>
          <a:xfrm>
            <a:off x="457200" y="3602736"/>
            <a:ext cx="1965960" cy="502920"/>
          </a:xfrm>
          <a:prstGeom prst="rect">
            <a:avLst/>
          </a:prstGeom>
          <a:solidFill>
            <a:srgbClr val="FFDA00"/>
          </a:solidFill>
          <a:ln w="12700">
            <a:solidFill>
              <a:srgbClr val="FFDA00"/>
            </a:solidFill>
            <a:prstDash val="solid"/>
          </a:ln>
        </p:spPr>
      </p:sp>
      <p:sp>
        <p:nvSpPr>
          <p:cNvPr id="19" name="Text 17"/>
          <p:cNvSpPr/>
          <p:nvPr/>
        </p:nvSpPr>
        <p:spPr>
          <a:xfrm>
            <a:off x="457200" y="3602736"/>
            <a:ext cx="1965960" cy="502920"/>
          </a:xfrm>
          <a:prstGeom prst="rect">
            <a:avLst/>
          </a:prstGeom>
          <a:noFill/>
          <a:ln/>
        </p:spPr>
        <p:txBody>
          <a:bodyPr wrap="square" lIns="0" tIns="0" rIns="0" bIns="0" rtlCol="0" anchor="ctr"/>
          <a:lstStyle/>
          <a:p>
            <a:pPr algn="ctr" indent="0" marL="0">
              <a:buNone/>
            </a:pPr>
            <a:r>
              <a:rPr lang="en-US" sz="1200" b="1" dirty="0">
                <a:solidFill>
                  <a:srgbClr val="003087"/>
                </a:solidFill>
                <a:latin typeface="Trebuchet MS" pitchFamily="34" charset="0"/>
                <a:ea typeface="Trebuchet MS" pitchFamily="34" charset="-122"/>
                <a:cs typeface="Trebuchet MS" pitchFamily="34" charset="-120"/>
              </a:rPr>
              <a:t>Alibaba</a:t>
            </a:r>
            <a:endParaRPr lang="en-US" sz="1200" dirty="0"/>
          </a:p>
        </p:txBody>
      </p:sp>
      <p:sp>
        <p:nvSpPr>
          <p:cNvPr id="20" name="Shape 18"/>
          <p:cNvSpPr/>
          <p:nvPr/>
        </p:nvSpPr>
        <p:spPr>
          <a:xfrm>
            <a:off x="2542032" y="3602736"/>
            <a:ext cx="1965960" cy="502920"/>
          </a:xfrm>
          <a:prstGeom prst="rect">
            <a:avLst/>
          </a:prstGeom>
          <a:solidFill>
            <a:srgbClr val="FFDA00"/>
          </a:solidFill>
          <a:ln w="12700">
            <a:solidFill>
              <a:srgbClr val="FFDA00"/>
            </a:solidFill>
            <a:prstDash val="solid"/>
          </a:ln>
        </p:spPr>
      </p:sp>
      <p:sp>
        <p:nvSpPr>
          <p:cNvPr id="21" name="Text 19"/>
          <p:cNvSpPr/>
          <p:nvPr/>
        </p:nvSpPr>
        <p:spPr>
          <a:xfrm>
            <a:off x="2542032" y="3602736"/>
            <a:ext cx="1965960" cy="502920"/>
          </a:xfrm>
          <a:prstGeom prst="rect">
            <a:avLst/>
          </a:prstGeom>
          <a:noFill/>
          <a:ln/>
        </p:spPr>
        <p:txBody>
          <a:bodyPr wrap="square" lIns="0" tIns="0" rIns="0" bIns="0" rtlCol="0" anchor="ctr"/>
          <a:lstStyle/>
          <a:p>
            <a:pPr algn="ctr" indent="0" marL="0">
              <a:buNone/>
            </a:pPr>
            <a:r>
              <a:rPr lang="en-US" sz="1200" b="1" dirty="0">
                <a:solidFill>
                  <a:srgbClr val="003087"/>
                </a:solidFill>
                <a:latin typeface="Trebuchet MS" pitchFamily="34" charset="0"/>
                <a:ea typeface="Trebuchet MS" pitchFamily="34" charset="-122"/>
                <a:cs typeface="Trebuchet MS" pitchFamily="34" charset="-120"/>
              </a:rPr>
              <a:t>Douyin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827"/>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FFDA00"/>
          </a:solidFill>
          <a:ln w="12700">
            <a:solidFill>
              <a:srgbClr val="FFDA00"/>
            </a:solidFill>
            <a:prstDash val="solid"/>
          </a:ln>
        </p:spPr>
      </p:sp>
      <p:sp>
        <p:nvSpPr>
          <p:cNvPr id="3" name="Shape 1"/>
          <p:cNvSpPr/>
          <p:nvPr/>
        </p:nvSpPr>
        <p:spPr>
          <a:xfrm>
            <a:off x="8046720" y="164592"/>
            <a:ext cx="822960" cy="329184"/>
          </a:xfrm>
          <a:prstGeom prst="rect">
            <a:avLst/>
          </a:prstGeom>
          <a:solidFill>
            <a:srgbClr val="FFDA00"/>
          </a:solidFill>
          <a:ln w="12700">
            <a:solidFill>
              <a:srgbClr val="FFDA00"/>
            </a:solidFill>
            <a:prstDash val="solid"/>
          </a:ln>
        </p:spPr>
      </p:sp>
      <p:sp>
        <p:nvSpPr>
          <p:cNvPr id="4" name="Text 2"/>
          <p:cNvSpPr/>
          <p:nvPr/>
        </p:nvSpPr>
        <p:spPr>
          <a:xfrm>
            <a:off x="8046720" y="164592"/>
            <a:ext cx="822960" cy="329184"/>
          </a:xfrm>
          <a:prstGeom prst="rect">
            <a:avLst/>
          </a:prstGeom>
          <a:noFill/>
          <a:ln/>
        </p:spPr>
        <p:txBody>
          <a:bodyPr wrap="square" lIns="0" tIns="0" rIns="0" bIns="0" rtlCol="0" anchor="ctr"/>
          <a:lstStyle/>
          <a:p>
            <a:pPr algn="ctr" indent="0" marL="0">
              <a:buNone/>
            </a:pPr>
            <a:r>
              <a:rPr lang="en-US" sz="1400" b="1" dirty="0">
                <a:solidFill>
                  <a:srgbClr val="003087"/>
                </a:solidFill>
                <a:latin typeface="Trebuchet MS" pitchFamily="34" charset="0"/>
                <a:ea typeface="Trebuchet MS" pitchFamily="34" charset="-122"/>
                <a:cs typeface="Trebuchet MS" pitchFamily="34" charset="-120"/>
              </a:rPr>
              <a:t>IKEA</a:t>
            </a:r>
            <a:endParaRPr lang="en-US" sz="1400" dirty="0"/>
          </a:p>
        </p:txBody>
      </p:sp>
      <p:sp>
        <p:nvSpPr>
          <p:cNvPr id="5" name="Text 3"/>
          <p:cNvSpPr/>
          <p:nvPr/>
        </p:nvSpPr>
        <p:spPr>
          <a:xfrm>
            <a:off x="502920" y="182880"/>
            <a:ext cx="7315200" cy="502920"/>
          </a:xfrm>
          <a:prstGeom prst="rect">
            <a:avLst/>
          </a:prstGeom>
          <a:noFill/>
          <a:ln/>
        </p:spPr>
        <p:txBody>
          <a:bodyPr wrap="square" lIns="0" tIns="0" rIns="0" bIns="0" rtlCol="0" anchor="ctr"/>
          <a:lstStyle/>
          <a:p>
            <a:pPr algn="l" indent="0" marL="0">
              <a:buNone/>
            </a:pPr>
            <a:r>
              <a:rPr lang="en-US" sz="2400" b="1" dirty="0">
                <a:solidFill>
                  <a:srgbClr val="FFFFFF"/>
                </a:solidFill>
                <a:latin typeface="Trebuchet MS" pitchFamily="34" charset="0"/>
                <a:ea typeface="Trebuchet MS" pitchFamily="34" charset="-122"/>
                <a:cs typeface="Trebuchet MS" pitchFamily="34" charset="-120"/>
              </a:rPr>
              <a:t>Global Benchmark Enterprise Updates</a:t>
            </a:r>
            <a:endParaRPr lang="en-US" sz="2400" dirty="0"/>
          </a:p>
        </p:txBody>
      </p:sp>
      <p:sp>
        <p:nvSpPr>
          <p:cNvPr id="6" name="Text 4"/>
          <p:cNvSpPr/>
          <p:nvPr/>
        </p:nvSpPr>
        <p:spPr>
          <a:xfrm>
            <a:off x="502920" y="713232"/>
            <a:ext cx="6400800" cy="256032"/>
          </a:xfrm>
          <a:prstGeom prst="rect">
            <a:avLst/>
          </a:prstGeom>
          <a:noFill/>
          <a:ln/>
        </p:spPr>
        <p:txBody>
          <a:bodyPr wrap="square" lIns="0" tIns="0" rIns="0" bIns="0" rtlCol="0" anchor="ctr"/>
          <a:lstStyle/>
          <a:p>
            <a:pPr algn="l" indent="0" marL="0">
              <a:buNone/>
            </a:pPr>
            <a:r>
              <a:rPr lang="en-US" sz="1100" dirty="0">
                <a:solidFill>
                  <a:srgbClr val="FFDA00"/>
                </a:solidFill>
                <a:latin typeface="Calibri" pitchFamily="34" charset="0"/>
                <a:ea typeface="Calibri" pitchFamily="34" charset="-122"/>
                <a:cs typeface="Calibri" pitchFamily="34" charset="-120"/>
              </a:rPr>
              <a:t>Ranked by strategic importance · Week of April 13–19, 2026</a:t>
            </a:r>
            <a:endParaRPr lang="en-US" sz="1100" dirty="0"/>
          </a:p>
        </p:txBody>
      </p:sp>
      <p:sp>
        <p:nvSpPr>
          <p:cNvPr id="7" name="Shape 5"/>
          <p:cNvSpPr/>
          <p:nvPr/>
        </p:nvSpPr>
        <p:spPr>
          <a:xfrm>
            <a:off x="365760" y="1078992"/>
            <a:ext cx="4251960" cy="1335024"/>
          </a:xfrm>
          <a:prstGeom prst="rect">
            <a:avLst/>
          </a:prstGeom>
          <a:solidFill>
            <a:srgbClr val="FFFFFF">
              <a:alpha val="6000"/>
            </a:srgbClr>
          </a:solidFill>
          <a:ln w="10160">
            <a:solidFill>
              <a:srgbClr val="FFDA00">
                <a:alpha val="45000"/>
              </a:srgbClr>
            </a:solidFill>
            <a:prstDash val="solid"/>
          </a:ln>
        </p:spPr>
      </p:sp>
      <p:sp>
        <p:nvSpPr>
          <p:cNvPr id="8" name="Shape 6"/>
          <p:cNvSpPr/>
          <p:nvPr/>
        </p:nvSpPr>
        <p:spPr>
          <a:xfrm>
            <a:off x="365760" y="1078992"/>
            <a:ext cx="50292" cy="1335024"/>
          </a:xfrm>
          <a:prstGeom prst="rect">
            <a:avLst/>
          </a:prstGeom>
          <a:solidFill>
            <a:srgbClr val="FFDA00"/>
          </a:solidFill>
          <a:ln w="12700">
            <a:solidFill>
              <a:srgbClr val="FFDA00"/>
            </a:solidFill>
            <a:prstDash val="solid"/>
          </a:ln>
        </p:spPr>
      </p:sp>
      <p:sp>
        <p:nvSpPr>
          <p:cNvPr id="9" name="Text 7"/>
          <p:cNvSpPr/>
          <p:nvPr/>
        </p:nvSpPr>
        <p:spPr>
          <a:xfrm>
            <a:off x="530352" y="1152144"/>
            <a:ext cx="3977640" cy="274320"/>
          </a:xfrm>
          <a:prstGeom prst="rect">
            <a:avLst/>
          </a:prstGeom>
          <a:noFill/>
          <a:ln/>
        </p:spPr>
        <p:txBody>
          <a:bodyPr wrap="square" lIns="0" tIns="0" rIns="0" bIns="0" rtlCol="0" anchor="ctr"/>
          <a:lstStyle/>
          <a:p>
            <a:pPr algn="l" indent="0" marL="0">
              <a:buNone/>
            </a:pPr>
            <a:r>
              <a:rPr lang="en-US" sz="1150" b="1" dirty="0">
                <a:solidFill>
                  <a:srgbClr val="FFDA00"/>
                </a:solidFill>
                <a:latin typeface="Trebuchet MS" pitchFamily="34" charset="0"/>
                <a:ea typeface="Trebuchet MS" pitchFamily="34" charset="-122"/>
                <a:cs typeface="Trebuchet MS" pitchFamily="34" charset="-120"/>
              </a:rPr>
              <a:t>Walmart  USA</a:t>
            </a:r>
            <a:endParaRPr lang="en-US" sz="1150" dirty="0"/>
          </a:p>
        </p:txBody>
      </p:sp>
      <p:sp>
        <p:nvSpPr>
          <p:cNvPr id="10" name="Text 8"/>
          <p:cNvSpPr/>
          <p:nvPr/>
        </p:nvSpPr>
        <p:spPr>
          <a:xfrm>
            <a:off x="530352" y="1463040"/>
            <a:ext cx="3977640" cy="475488"/>
          </a:xfrm>
          <a:prstGeom prst="rect">
            <a:avLst/>
          </a:prstGeom>
          <a:noFill/>
          <a:ln/>
        </p:spPr>
        <p:txBody>
          <a:bodyPr wrap="square" lIns="0" tIns="0" rIns="0" bIns="0" rtlCol="0" anchor="ctr"/>
          <a:lstStyle/>
          <a:p>
            <a:pPr algn="l" indent="0" marL="0">
              <a:lnSpc>
                <a:spcPct val="120000"/>
              </a:lnSpc>
              <a:buNone/>
            </a:pPr>
            <a:r>
              <a:rPr lang="en-US" sz="950" dirty="0">
                <a:solidFill>
                  <a:srgbClr val="FFFFFF"/>
                </a:solidFill>
                <a:latin typeface="Calibri" pitchFamily="34" charset="0"/>
                <a:ea typeface="Calibri" pitchFamily="34" charset="-122"/>
                <a:cs typeface="Calibri" pitchFamily="34" charset="-120"/>
              </a:rPr>
              <a:t>Agentic commerce at infrastructure scale: Sparky + Marty AI agents, ChatGPT/Gemini integration, UCP membership, DSL roll</a:t>
            </a:r>
            <a:endParaRPr lang="en-US" sz="950" dirty="0"/>
          </a:p>
        </p:txBody>
      </p:sp>
      <p:sp>
        <p:nvSpPr>
          <p:cNvPr id="11" name="Text 9"/>
          <p:cNvSpPr/>
          <p:nvPr/>
        </p:nvSpPr>
        <p:spPr>
          <a:xfrm>
            <a:off x="530352" y="1975104"/>
            <a:ext cx="3977640" cy="347472"/>
          </a:xfrm>
          <a:prstGeom prst="rect">
            <a:avLst/>
          </a:prstGeom>
          <a:noFill/>
          <a:ln/>
        </p:spPr>
        <p:txBody>
          <a:bodyPr wrap="square" lIns="0" tIns="0" rIns="0" bIns="0" rtlCol="0" anchor="ctr"/>
          <a:lstStyle/>
          <a:p>
            <a:pPr algn="l" indent="0" marL="0">
              <a:buNone/>
            </a:pPr>
            <a:r>
              <a:rPr lang="en-US" sz="900" dirty="0">
                <a:solidFill>
                  <a:srgbClr val="CBD5E1"/>
                </a:solidFill>
                <a:latin typeface="Calibri" pitchFamily="34" charset="0"/>
                <a:ea typeface="Calibri" pitchFamily="34" charset="-122"/>
                <a:cs typeface="Calibri" pitchFamily="34" charset="-120"/>
              </a:rPr>
              <a:t>▶  eCommerce +27% YoY; 50% of e-fulfillment automated; advertising +37% globally; P/E 40.3x — reframed </a:t>
            </a:r>
            <a:endParaRPr lang="en-US" sz="900" dirty="0"/>
          </a:p>
        </p:txBody>
      </p:sp>
      <p:sp>
        <p:nvSpPr>
          <p:cNvPr id="12" name="Shape 10"/>
          <p:cNvSpPr/>
          <p:nvPr/>
        </p:nvSpPr>
        <p:spPr>
          <a:xfrm>
            <a:off x="4828032" y="1078992"/>
            <a:ext cx="4251960" cy="1335024"/>
          </a:xfrm>
          <a:prstGeom prst="rect">
            <a:avLst/>
          </a:prstGeom>
          <a:solidFill>
            <a:srgbClr val="FFFFFF">
              <a:alpha val="6000"/>
            </a:srgbClr>
          </a:solidFill>
          <a:ln w="10160">
            <a:solidFill>
              <a:srgbClr val="FFDA00">
                <a:alpha val="45000"/>
              </a:srgbClr>
            </a:solidFill>
            <a:prstDash val="solid"/>
          </a:ln>
        </p:spPr>
      </p:sp>
      <p:sp>
        <p:nvSpPr>
          <p:cNvPr id="13" name="Shape 11"/>
          <p:cNvSpPr/>
          <p:nvPr/>
        </p:nvSpPr>
        <p:spPr>
          <a:xfrm>
            <a:off x="4828032" y="1078992"/>
            <a:ext cx="50292" cy="1335024"/>
          </a:xfrm>
          <a:prstGeom prst="rect">
            <a:avLst/>
          </a:prstGeom>
          <a:solidFill>
            <a:srgbClr val="FFDA00"/>
          </a:solidFill>
          <a:ln w="12700">
            <a:solidFill>
              <a:srgbClr val="FFDA00"/>
            </a:solidFill>
            <a:prstDash val="solid"/>
          </a:ln>
        </p:spPr>
      </p:sp>
      <p:sp>
        <p:nvSpPr>
          <p:cNvPr id="14" name="Text 12"/>
          <p:cNvSpPr/>
          <p:nvPr/>
        </p:nvSpPr>
        <p:spPr>
          <a:xfrm>
            <a:off x="4992624" y="1152144"/>
            <a:ext cx="3977640" cy="274320"/>
          </a:xfrm>
          <a:prstGeom prst="rect">
            <a:avLst/>
          </a:prstGeom>
          <a:noFill/>
          <a:ln/>
        </p:spPr>
        <p:txBody>
          <a:bodyPr wrap="square" lIns="0" tIns="0" rIns="0" bIns="0" rtlCol="0" anchor="ctr"/>
          <a:lstStyle/>
          <a:p>
            <a:pPr algn="l" indent="0" marL="0">
              <a:buNone/>
            </a:pPr>
            <a:r>
              <a:rPr lang="en-US" sz="1150" b="1" dirty="0">
                <a:solidFill>
                  <a:srgbClr val="FFDA00"/>
                </a:solidFill>
                <a:latin typeface="Trebuchet MS" pitchFamily="34" charset="0"/>
                <a:ea typeface="Trebuchet MS" pitchFamily="34" charset="-122"/>
                <a:cs typeface="Trebuchet MS" pitchFamily="34" charset="-120"/>
              </a:rPr>
              <a:t>Amazon  USA</a:t>
            </a:r>
            <a:endParaRPr lang="en-US" sz="1150" dirty="0"/>
          </a:p>
        </p:txBody>
      </p:sp>
      <p:sp>
        <p:nvSpPr>
          <p:cNvPr id="15" name="Text 13"/>
          <p:cNvSpPr/>
          <p:nvPr/>
        </p:nvSpPr>
        <p:spPr>
          <a:xfrm>
            <a:off x="4992624" y="1463040"/>
            <a:ext cx="3977640" cy="475488"/>
          </a:xfrm>
          <a:prstGeom prst="rect">
            <a:avLst/>
          </a:prstGeom>
          <a:noFill/>
          <a:ln/>
        </p:spPr>
        <p:txBody>
          <a:bodyPr wrap="square" lIns="0" tIns="0" rIns="0" bIns="0" rtlCol="0" anchor="ctr"/>
          <a:lstStyle/>
          <a:p>
            <a:pPr algn="l" indent="0" marL="0">
              <a:lnSpc>
                <a:spcPct val="120000"/>
              </a:lnSpc>
              <a:buNone/>
            </a:pPr>
            <a:r>
              <a:rPr lang="en-US" sz="950" dirty="0">
                <a:solidFill>
                  <a:srgbClr val="FFFFFF"/>
                </a:solidFill>
                <a:latin typeface="Calibri" pitchFamily="34" charset="0"/>
                <a:ea typeface="Calibri" pitchFamily="34" charset="-122"/>
                <a:cs typeface="Calibri" pitchFamily="34" charset="-120"/>
              </a:rPr>
              <a:t>Project Kobe AI+robotics supercenter (250K SKUs); Blue Jay multi-arm robots; Project Eluna agentic AI for fulfillment op</a:t>
            </a:r>
            <a:endParaRPr lang="en-US" sz="950" dirty="0"/>
          </a:p>
        </p:txBody>
      </p:sp>
      <p:sp>
        <p:nvSpPr>
          <p:cNvPr id="16" name="Text 14"/>
          <p:cNvSpPr/>
          <p:nvPr/>
        </p:nvSpPr>
        <p:spPr>
          <a:xfrm>
            <a:off x="4992624" y="1975104"/>
            <a:ext cx="3977640" cy="347472"/>
          </a:xfrm>
          <a:prstGeom prst="rect">
            <a:avLst/>
          </a:prstGeom>
          <a:noFill/>
          <a:ln/>
        </p:spPr>
        <p:txBody>
          <a:bodyPr wrap="square" lIns="0" tIns="0" rIns="0" bIns="0" rtlCol="0" anchor="ctr"/>
          <a:lstStyle/>
          <a:p>
            <a:pPr algn="l" indent="0" marL="0">
              <a:buNone/>
            </a:pPr>
            <a:r>
              <a:rPr lang="en-US" sz="900" dirty="0">
                <a:solidFill>
                  <a:srgbClr val="CBD5E1"/>
                </a:solidFill>
                <a:latin typeface="Calibri" pitchFamily="34" charset="0"/>
                <a:ea typeface="Calibri" pitchFamily="34" charset="-122"/>
                <a:cs typeface="Calibri" pitchFamily="34" charset="-120"/>
              </a:rPr>
              <a:t>▶  Blue Jay handles 75% of items; Eluna live in TN; Bedrock used by 100K+ companies; Project Leo satell</a:t>
            </a:r>
            <a:endParaRPr lang="en-US" sz="900" dirty="0"/>
          </a:p>
        </p:txBody>
      </p:sp>
      <p:sp>
        <p:nvSpPr>
          <p:cNvPr id="17" name="Shape 15"/>
          <p:cNvSpPr/>
          <p:nvPr/>
        </p:nvSpPr>
        <p:spPr>
          <a:xfrm>
            <a:off x="365760" y="2560320"/>
            <a:ext cx="4251960" cy="1335024"/>
          </a:xfrm>
          <a:prstGeom prst="rect">
            <a:avLst/>
          </a:prstGeom>
          <a:solidFill>
            <a:srgbClr val="FFFFFF">
              <a:alpha val="6000"/>
            </a:srgbClr>
          </a:solidFill>
          <a:ln w="10160">
            <a:solidFill>
              <a:srgbClr val="FFDA00">
                <a:alpha val="45000"/>
              </a:srgbClr>
            </a:solidFill>
            <a:prstDash val="solid"/>
          </a:ln>
        </p:spPr>
      </p:sp>
      <p:sp>
        <p:nvSpPr>
          <p:cNvPr id="18" name="Shape 16"/>
          <p:cNvSpPr/>
          <p:nvPr/>
        </p:nvSpPr>
        <p:spPr>
          <a:xfrm>
            <a:off x="365760" y="2560320"/>
            <a:ext cx="50292" cy="1335024"/>
          </a:xfrm>
          <a:prstGeom prst="rect">
            <a:avLst/>
          </a:prstGeom>
          <a:solidFill>
            <a:srgbClr val="FFDA00"/>
          </a:solidFill>
          <a:ln w="12700">
            <a:solidFill>
              <a:srgbClr val="FFDA00"/>
            </a:solidFill>
            <a:prstDash val="solid"/>
          </a:ln>
        </p:spPr>
      </p:sp>
      <p:sp>
        <p:nvSpPr>
          <p:cNvPr id="19" name="Text 17"/>
          <p:cNvSpPr/>
          <p:nvPr/>
        </p:nvSpPr>
        <p:spPr>
          <a:xfrm>
            <a:off x="530352" y="2633472"/>
            <a:ext cx="3977640" cy="274320"/>
          </a:xfrm>
          <a:prstGeom prst="rect">
            <a:avLst/>
          </a:prstGeom>
          <a:noFill/>
          <a:ln/>
        </p:spPr>
        <p:txBody>
          <a:bodyPr wrap="square" lIns="0" tIns="0" rIns="0" bIns="0" rtlCol="0" anchor="ctr"/>
          <a:lstStyle/>
          <a:p>
            <a:pPr algn="l" indent="0" marL="0">
              <a:buNone/>
            </a:pPr>
            <a:r>
              <a:rPr lang="en-US" sz="1150" b="1" dirty="0">
                <a:solidFill>
                  <a:srgbClr val="FFDA00"/>
                </a:solidFill>
                <a:latin typeface="Trebuchet MS" pitchFamily="34" charset="0"/>
                <a:ea typeface="Trebuchet MS" pitchFamily="34" charset="-122"/>
                <a:cs typeface="Trebuchet MS" pitchFamily="34" charset="-120"/>
              </a:rPr>
              <a:t>Sephora  USA/Global</a:t>
            </a:r>
            <a:endParaRPr lang="en-US" sz="1150" dirty="0"/>
          </a:p>
        </p:txBody>
      </p:sp>
      <p:sp>
        <p:nvSpPr>
          <p:cNvPr id="20" name="Text 18"/>
          <p:cNvSpPr/>
          <p:nvPr/>
        </p:nvSpPr>
        <p:spPr>
          <a:xfrm>
            <a:off x="530352" y="2944368"/>
            <a:ext cx="3977640" cy="475488"/>
          </a:xfrm>
          <a:prstGeom prst="rect">
            <a:avLst/>
          </a:prstGeom>
          <a:noFill/>
          <a:ln/>
        </p:spPr>
        <p:txBody>
          <a:bodyPr wrap="square" lIns="0" tIns="0" rIns="0" bIns="0" rtlCol="0" anchor="ctr"/>
          <a:lstStyle/>
          <a:p>
            <a:pPr algn="l" indent="0" marL="0">
              <a:lnSpc>
                <a:spcPct val="120000"/>
              </a:lnSpc>
              <a:buNone/>
            </a:pPr>
            <a:r>
              <a:rPr lang="en-US" sz="950" dirty="0">
                <a:solidFill>
                  <a:srgbClr val="FFFFFF"/>
                </a:solidFill>
                <a:latin typeface="Calibri" pitchFamily="34" charset="0"/>
                <a:ea typeface="Calibri" pitchFamily="34" charset="-122"/>
                <a:cs typeface="Calibri" pitchFamily="34" charset="-120"/>
              </a:rPr>
              <a:t>ChatGPT-native shopping app launched for 80M+ Beauty Insider members; AI trend forecasting; UK omnichannel scale-up to 2</a:t>
            </a:r>
            <a:endParaRPr lang="en-US" sz="950" dirty="0"/>
          </a:p>
        </p:txBody>
      </p:sp>
      <p:sp>
        <p:nvSpPr>
          <p:cNvPr id="21" name="Text 19"/>
          <p:cNvSpPr/>
          <p:nvPr/>
        </p:nvSpPr>
        <p:spPr>
          <a:xfrm>
            <a:off x="530352" y="3456432"/>
            <a:ext cx="3977640" cy="347472"/>
          </a:xfrm>
          <a:prstGeom prst="rect">
            <a:avLst/>
          </a:prstGeom>
          <a:noFill/>
          <a:ln/>
        </p:spPr>
        <p:txBody>
          <a:bodyPr wrap="square" lIns="0" tIns="0" rIns="0" bIns="0" rtlCol="0" anchor="ctr"/>
          <a:lstStyle/>
          <a:p>
            <a:pPr algn="l" indent="0" marL="0">
              <a:buNone/>
            </a:pPr>
            <a:r>
              <a:rPr lang="en-US" sz="900" dirty="0">
                <a:solidFill>
                  <a:srgbClr val="CBD5E1"/>
                </a:solidFill>
                <a:latin typeface="Calibri" pitchFamily="34" charset="0"/>
                <a:ea typeface="Calibri" pitchFamily="34" charset="-122"/>
                <a:cs typeface="Calibri" pitchFamily="34" charset="-120"/>
              </a:rPr>
              <a:t>▶  AI trend forecasting shortened launch cycles 30–40%; Shoptalk 2026 joint keynote with OpenAI</a:t>
            </a:r>
            <a:endParaRPr lang="en-US" sz="900" dirty="0"/>
          </a:p>
        </p:txBody>
      </p:sp>
      <p:sp>
        <p:nvSpPr>
          <p:cNvPr id="22" name="Shape 20"/>
          <p:cNvSpPr/>
          <p:nvPr/>
        </p:nvSpPr>
        <p:spPr>
          <a:xfrm>
            <a:off x="4828032" y="2560320"/>
            <a:ext cx="4251960" cy="1335024"/>
          </a:xfrm>
          <a:prstGeom prst="rect">
            <a:avLst/>
          </a:prstGeom>
          <a:solidFill>
            <a:srgbClr val="FFFFFF">
              <a:alpha val="6000"/>
            </a:srgbClr>
          </a:solidFill>
          <a:ln w="10160">
            <a:solidFill>
              <a:srgbClr val="FFDA00">
                <a:alpha val="45000"/>
              </a:srgbClr>
            </a:solidFill>
            <a:prstDash val="solid"/>
          </a:ln>
        </p:spPr>
      </p:sp>
      <p:sp>
        <p:nvSpPr>
          <p:cNvPr id="23" name="Shape 21"/>
          <p:cNvSpPr/>
          <p:nvPr/>
        </p:nvSpPr>
        <p:spPr>
          <a:xfrm>
            <a:off x="4828032" y="2560320"/>
            <a:ext cx="50292" cy="1335024"/>
          </a:xfrm>
          <a:prstGeom prst="rect">
            <a:avLst/>
          </a:prstGeom>
          <a:solidFill>
            <a:srgbClr val="FFDA00"/>
          </a:solidFill>
          <a:ln w="12700">
            <a:solidFill>
              <a:srgbClr val="FFDA00"/>
            </a:solidFill>
            <a:prstDash val="solid"/>
          </a:ln>
        </p:spPr>
      </p:sp>
      <p:sp>
        <p:nvSpPr>
          <p:cNvPr id="24" name="Text 22"/>
          <p:cNvSpPr/>
          <p:nvPr/>
        </p:nvSpPr>
        <p:spPr>
          <a:xfrm>
            <a:off x="4992624" y="2633472"/>
            <a:ext cx="3977640" cy="274320"/>
          </a:xfrm>
          <a:prstGeom prst="rect">
            <a:avLst/>
          </a:prstGeom>
          <a:noFill/>
          <a:ln/>
        </p:spPr>
        <p:txBody>
          <a:bodyPr wrap="square" lIns="0" tIns="0" rIns="0" bIns="0" rtlCol="0" anchor="ctr"/>
          <a:lstStyle/>
          <a:p>
            <a:pPr algn="l" indent="0" marL="0">
              <a:buNone/>
            </a:pPr>
            <a:r>
              <a:rPr lang="en-US" sz="1150" b="1" dirty="0">
                <a:solidFill>
                  <a:srgbClr val="FFDA00"/>
                </a:solidFill>
                <a:latin typeface="Trebuchet MS" pitchFamily="34" charset="0"/>
                <a:ea typeface="Trebuchet MS" pitchFamily="34" charset="-122"/>
                <a:cs typeface="Trebuchet MS" pitchFamily="34" charset="-120"/>
              </a:rPr>
              <a:t>JD.com  China</a:t>
            </a:r>
            <a:endParaRPr lang="en-US" sz="1150" dirty="0"/>
          </a:p>
        </p:txBody>
      </p:sp>
      <p:sp>
        <p:nvSpPr>
          <p:cNvPr id="25" name="Text 23"/>
          <p:cNvSpPr/>
          <p:nvPr/>
        </p:nvSpPr>
        <p:spPr>
          <a:xfrm>
            <a:off x="4992624" y="2944368"/>
            <a:ext cx="3977640" cy="475488"/>
          </a:xfrm>
          <a:prstGeom prst="rect">
            <a:avLst/>
          </a:prstGeom>
          <a:noFill/>
          <a:ln/>
        </p:spPr>
        <p:txBody>
          <a:bodyPr wrap="square" lIns="0" tIns="0" rIns="0" bIns="0" rtlCol="0" anchor="ctr"/>
          <a:lstStyle/>
          <a:p>
            <a:pPr algn="l" indent="0" marL="0">
              <a:lnSpc>
                <a:spcPct val="120000"/>
              </a:lnSpc>
              <a:buNone/>
            </a:pPr>
            <a:r>
              <a:rPr lang="en-US" sz="950" dirty="0">
                <a:solidFill>
                  <a:srgbClr val="FFFFFF"/>
                </a:solidFill>
                <a:latin typeface="Calibri" pitchFamily="34" charset="0"/>
                <a:ea typeface="Calibri" pitchFamily="34" charset="-122"/>
                <a:cs typeface="Calibri" pitchFamily="34" charset="-120"/>
              </a:rPr>
              <a:t>AI+Medical Devices strategy: JoyInside into 1M devices in 12 months; JoyAI ecosystem; digital human platform 4.0 cuts st</a:t>
            </a:r>
            <a:endParaRPr lang="en-US" sz="950" dirty="0"/>
          </a:p>
        </p:txBody>
      </p:sp>
      <p:sp>
        <p:nvSpPr>
          <p:cNvPr id="26" name="Text 24"/>
          <p:cNvSpPr/>
          <p:nvPr/>
        </p:nvSpPr>
        <p:spPr>
          <a:xfrm>
            <a:off x="4992624" y="3456432"/>
            <a:ext cx="3977640" cy="347472"/>
          </a:xfrm>
          <a:prstGeom prst="rect">
            <a:avLst/>
          </a:prstGeom>
          <a:noFill/>
          <a:ln/>
        </p:spPr>
        <p:txBody>
          <a:bodyPr wrap="square" lIns="0" tIns="0" rIns="0" bIns="0" rtlCol="0" anchor="ctr"/>
          <a:lstStyle/>
          <a:p>
            <a:pPr algn="l" indent="0" marL="0">
              <a:buNone/>
            </a:pPr>
            <a:r>
              <a:rPr lang="en-US" sz="900" dirty="0">
                <a:solidFill>
                  <a:srgbClr val="CBD5E1"/>
                </a:solidFill>
                <a:latin typeface="Calibri" pitchFamily="34" charset="0"/>
                <a:ea typeface="Calibri" pitchFamily="34" charset="-122"/>
                <a:cs typeface="Calibri" pitchFamily="34" charset="-120"/>
              </a:rPr>
              <a:t>▶  JoyAI inference engine 3,000 tokens/sec/card (1.8x), ranked #2 globally; trillion-yuan AI plan over </a:t>
            </a:r>
            <a:endParaRPr lang="en-US" sz="900" dirty="0"/>
          </a:p>
        </p:txBody>
      </p:sp>
      <p:sp>
        <p:nvSpPr>
          <p:cNvPr id="27" name="Shape 25"/>
          <p:cNvSpPr/>
          <p:nvPr/>
        </p:nvSpPr>
        <p:spPr>
          <a:xfrm>
            <a:off x="365760" y="4041648"/>
            <a:ext cx="4251960" cy="1335024"/>
          </a:xfrm>
          <a:prstGeom prst="rect">
            <a:avLst/>
          </a:prstGeom>
          <a:solidFill>
            <a:srgbClr val="FFFFFF">
              <a:alpha val="6000"/>
            </a:srgbClr>
          </a:solidFill>
          <a:ln w="10160">
            <a:solidFill>
              <a:srgbClr val="FFDA00">
                <a:alpha val="45000"/>
              </a:srgbClr>
            </a:solidFill>
            <a:prstDash val="solid"/>
          </a:ln>
        </p:spPr>
      </p:sp>
      <p:sp>
        <p:nvSpPr>
          <p:cNvPr id="28" name="Shape 26"/>
          <p:cNvSpPr/>
          <p:nvPr/>
        </p:nvSpPr>
        <p:spPr>
          <a:xfrm>
            <a:off x="365760" y="4041648"/>
            <a:ext cx="50292" cy="1335024"/>
          </a:xfrm>
          <a:prstGeom prst="rect">
            <a:avLst/>
          </a:prstGeom>
          <a:solidFill>
            <a:srgbClr val="FFDA00"/>
          </a:solidFill>
          <a:ln w="12700">
            <a:solidFill>
              <a:srgbClr val="FFDA00"/>
            </a:solidFill>
            <a:prstDash val="solid"/>
          </a:ln>
        </p:spPr>
      </p:sp>
      <p:sp>
        <p:nvSpPr>
          <p:cNvPr id="29" name="Text 27"/>
          <p:cNvSpPr/>
          <p:nvPr/>
        </p:nvSpPr>
        <p:spPr>
          <a:xfrm>
            <a:off x="530352" y="4114800"/>
            <a:ext cx="3977640" cy="274320"/>
          </a:xfrm>
          <a:prstGeom prst="rect">
            <a:avLst/>
          </a:prstGeom>
          <a:noFill/>
          <a:ln/>
        </p:spPr>
        <p:txBody>
          <a:bodyPr wrap="square" lIns="0" tIns="0" rIns="0" bIns="0" rtlCol="0" anchor="ctr"/>
          <a:lstStyle/>
          <a:p>
            <a:pPr algn="l" indent="0" marL="0">
              <a:buNone/>
            </a:pPr>
            <a:r>
              <a:rPr lang="en-US" sz="1150" b="1" dirty="0">
                <a:solidFill>
                  <a:srgbClr val="FFDA00"/>
                </a:solidFill>
                <a:latin typeface="Trebuchet MS" pitchFamily="34" charset="0"/>
                <a:ea typeface="Trebuchet MS" pitchFamily="34" charset="-122"/>
                <a:cs typeface="Trebuchet MS" pitchFamily="34" charset="-120"/>
              </a:rPr>
              <a:t>Alibaba/Meituan  China</a:t>
            </a:r>
            <a:endParaRPr lang="en-US" sz="1150" dirty="0"/>
          </a:p>
        </p:txBody>
      </p:sp>
      <p:sp>
        <p:nvSpPr>
          <p:cNvPr id="30" name="Text 28"/>
          <p:cNvSpPr/>
          <p:nvPr/>
        </p:nvSpPr>
        <p:spPr>
          <a:xfrm>
            <a:off x="530352" y="4425696"/>
            <a:ext cx="3977640" cy="475488"/>
          </a:xfrm>
          <a:prstGeom prst="rect">
            <a:avLst/>
          </a:prstGeom>
          <a:noFill/>
          <a:ln/>
        </p:spPr>
        <p:txBody>
          <a:bodyPr wrap="square" lIns="0" tIns="0" rIns="0" bIns="0" rtlCol="0" anchor="ctr"/>
          <a:lstStyle/>
          <a:p>
            <a:pPr algn="l" indent="0" marL="0">
              <a:lnSpc>
                <a:spcPct val="120000"/>
              </a:lnSpc>
              <a:buNone/>
            </a:pPr>
            <a:r>
              <a:rPr lang="en-US" sz="950" dirty="0">
                <a:solidFill>
                  <a:srgbClr val="FFFFFF"/>
                </a:solidFill>
                <a:latin typeface="Calibri" pitchFamily="34" charset="0"/>
                <a:ea typeface="Calibri" pitchFamily="34" charset="-122"/>
                <a:cs typeface="Calibri" pitchFamily="34" charset="-120"/>
              </a:rPr>
              <a:t>RMB 380B AI transformation; Meituan Xiaotuan Health Butler launched Apr 14; Alibaba Hydrogen Ion AI for doctors; 75% CS </a:t>
            </a:r>
            <a:endParaRPr lang="en-US" sz="950" dirty="0"/>
          </a:p>
        </p:txBody>
      </p:sp>
      <p:sp>
        <p:nvSpPr>
          <p:cNvPr id="31" name="Text 29"/>
          <p:cNvSpPr/>
          <p:nvPr/>
        </p:nvSpPr>
        <p:spPr>
          <a:xfrm>
            <a:off x="530352" y="4937760"/>
            <a:ext cx="3977640" cy="347472"/>
          </a:xfrm>
          <a:prstGeom prst="rect">
            <a:avLst/>
          </a:prstGeom>
          <a:noFill/>
          <a:ln/>
        </p:spPr>
        <p:txBody>
          <a:bodyPr wrap="square" lIns="0" tIns="0" rIns="0" bIns="0" rtlCol="0" anchor="ctr"/>
          <a:lstStyle/>
          <a:p>
            <a:pPr algn="l" indent="0" marL="0">
              <a:buNone/>
            </a:pPr>
            <a:r>
              <a:rPr lang="en-US" sz="900" dirty="0">
                <a:solidFill>
                  <a:srgbClr val="CBD5E1"/>
                </a:solidFill>
                <a:latin typeface="Calibri" pitchFamily="34" charset="0"/>
                <a:ea typeface="Calibri" pitchFamily="34" charset="-122"/>
                <a:cs typeface="Calibri" pitchFamily="34" charset="-120"/>
              </a:rPr>
              <a:t>▶  Alibaba targets ASI via Tongyi Qianwen; healthcare positioned as next commerce frontier amid e-comme</a:t>
            </a:r>
            <a:endParaRPr lang="en-US" sz="900" dirty="0"/>
          </a:p>
        </p:txBody>
      </p:sp>
      <p:sp>
        <p:nvSpPr>
          <p:cNvPr id="32" name="Shape 30"/>
          <p:cNvSpPr/>
          <p:nvPr/>
        </p:nvSpPr>
        <p:spPr>
          <a:xfrm>
            <a:off x="4828032" y="4041648"/>
            <a:ext cx="4251960" cy="1335024"/>
          </a:xfrm>
          <a:prstGeom prst="rect">
            <a:avLst/>
          </a:prstGeom>
          <a:solidFill>
            <a:srgbClr val="FFFFFF">
              <a:alpha val="6000"/>
            </a:srgbClr>
          </a:solidFill>
          <a:ln w="10160">
            <a:solidFill>
              <a:srgbClr val="FFDA00">
                <a:alpha val="45000"/>
              </a:srgbClr>
            </a:solidFill>
            <a:prstDash val="solid"/>
          </a:ln>
        </p:spPr>
      </p:sp>
      <p:sp>
        <p:nvSpPr>
          <p:cNvPr id="33" name="Shape 31"/>
          <p:cNvSpPr/>
          <p:nvPr/>
        </p:nvSpPr>
        <p:spPr>
          <a:xfrm>
            <a:off x="4828032" y="4041648"/>
            <a:ext cx="50292" cy="1335024"/>
          </a:xfrm>
          <a:prstGeom prst="rect">
            <a:avLst/>
          </a:prstGeom>
          <a:solidFill>
            <a:srgbClr val="FFDA00"/>
          </a:solidFill>
          <a:ln w="12700">
            <a:solidFill>
              <a:srgbClr val="FFDA00"/>
            </a:solidFill>
            <a:prstDash val="solid"/>
          </a:ln>
        </p:spPr>
      </p:sp>
      <p:sp>
        <p:nvSpPr>
          <p:cNvPr id="34" name="Text 32"/>
          <p:cNvSpPr/>
          <p:nvPr/>
        </p:nvSpPr>
        <p:spPr>
          <a:xfrm>
            <a:off x="4992624" y="4114800"/>
            <a:ext cx="3977640" cy="274320"/>
          </a:xfrm>
          <a:prstGeom prst="rect">
            <a:avLst/>
          </a:prstGeom>
          <a:noFill/>
          <a:ln/>
        </p:spPr>
        <p:txBody>
          <a:bodyPr wrap="square" lIns="0" tIns="0" rIns="0" bIns="0" rtlCol="0" anchor="ctr"/>
          <a:lstStyle/>
          <a:p>
            <a:pPr algn="l" indent="0" marL="0">
              <a:buNone/>
            </a:pPr>
            <a:r>
              <a:rPr lang="en-US" sz="1150" b="1" dirty="0">
                <a:solidFill>
                  <a:srgbClr val="FFDA00"/>
                </a:solidFill>
                <a:latin typeface="Trebuchet MS" pitchFamily="34" charset="0"/>
                <a:ea typeface="Trebuchet MS" pitchFamily="34" charset="-122"/>
                <a:cs typeface="Trebuchet MS" pitchFamily="34" charset="-120"/>
              </a:rPr>
              <a:t>Douyin/ByteDance  China/Global</a:t>
            </a:r>
            <a:endParaRPr lang="en-US" sz="1150" dirty="0"/>
          </a:p>
        </p:txBody>
      </p:sp>
      <p:sp>
        <p:nvSpPr>
          <p:cNvPr id="35" name="Text 33"/>
          <p:cNvSpPr/>
          <p:nvPr/>
        </p:nvSpPr>
        <p:spPr>
          <a:xfrm>
            <a:off x="4992624" y="4425696"/>
            <a:ext cx="3977640" cy="475488"/>
          </a:xfrm>
          <a:prstGeom prst="rect">
            <a:avLst/>
          </a:prstGeom>
          <a:noFill/>
          <a:ln/>
        </p:spPr>
        <p:txBody>
          <a:bodyPr wrap="square" lIns="0" tIns="0" rIns="0" bIns="0" rtlCol="0" anchor="ctr"/>
          <a:lstStyle/>
          <a:p>
            <a:pPr algn="l" indent="0" marL="0">
              <a:lnSpc>
                <a:spcPct val="120000"/>
              </a:lnSpc>
              <a:buNone/>
            </a:pPr>
            <a:r>
              <a:rPr lang="en-US" sz="950" dirty="0">
                <a:solidFill>
                  <a:srgbClr val="FFFFFF"/>
                </a:solidFill>
                <a:latin typeface="Calibri" pitchFamily="34" charset="0"/>
                <a:ea typeface="Calibri" pitchFamily="34" charset="-122"/>
                <a:cs typeface="Calibri" pitchFamily="34" charset="-120"/>
              </a:rPr>
              <a:t>AI live commerce at ¥7T scale; Volcengine ~49% China LLM cloud market; luxury live commerce +40% YoY; TikTok strategic r</a:t>
            </a:r>
            <a:endParaRPr lang="en-US" sz="950" dirty="0"/>
          </a:p>
        </p:txBody>
      </p:sp>
      <p:sp>
        <p:nvSpPr>
          <p:cNvPr id="36" name="Text 34"/>
          <p:cNvSpPr/>
          <p:nvPr/>
        </p:nvSpPr>
        <p:spPr>
          <a:xfrm>
            <a:off x="4992624" y="4937760"/>
            <a:ext cx="3977640" cy="347472"/>
          </a:xfrm>
          <a:prstGeom prst="rect">
            <a:avLst/>
          </a:prstGeom>
          <a:noFill/>
          <a:ln/>
        </p:spPr>
        <p:txBody>
          <a:bodyPr wrap="square" lIns="0" tIns="0" rIns="0" bIns="0" rtlCol="0" anchor="ctr"/>
          <a:lstStyle/>
          <a:p>
            <a:pPr algn="l" indent="0" marL="0">
              <a:buNone/>
            </a:pPr>
            <a:r>
              <a:rPr lang="en-US" sz="900" dirty="0">
                <a:solidFill>
                  <a:srgbClr val="CBD5E1"/>
                </a:solidFill>
                <a:latin typeface="Calibri" pitchFamily="34" charset="0"/>
                <a:ea typeface="Calibri" pitchFamily="34" charset="-122"/>
                <a:cs typeface="Calibri" pitchFamily="34" charset="-120"/>
              </a:rPr>
              <a:t>▶  Douyin GMV ~RMB 3.5T in 2024 (+30% YoY); Doubao powers AI ad-creative, recommendations, enterprise c</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3087"/>
          </a:solidFill>
          <a:ln w="12700">
            <a:solidFill>
              <a:srgbClr val="003087"/>
            </a:solidFill>
            <a:prstDash val="solid"/>
          </a:ln>
        </p:spPr>
      </p:sp>
      <p:sp>
        <p:nvSpPr>
          <p:cNvPr id="3" name="Shape 1"/>
          <p:cNvSpPr/>
          <p:nvPr/>
        </p:nvSpPr>
        <p:spPr>
          <a:xfrm>
            <a:off x="8046720" y="164592"/>
            <a:ext cx="822960" cy="329184"/>
          </a:xfrm>
          <a:prstGeom prst="rect">
            <a:avLst/>
          </a:prstGeom>
          <a:solidFill>
            <a:srgbClr val="FFDA00"/>
          </a:solidFill>
          <a:ln w="12700">
            <a:solidFill>
              <a:srgbClr val="FFDA00"/>
            </a:solidFill>
            <a:prstDash val="solid"/>
          </a:ln>
        </p:spPr>
      </p:sp>
      <p:sp>
        <p:nvSpPr>
          <p:cNvPr id="4" name="Text 2"/>
          <p:cNvSpPr/>
          <p:nvPr/>
        </p:nvSpPr>
        <p:spPr>
          <a:xfrm>
            <a:off x="8046720" y="164592"/>
            <a:ext cx="822960" cy="329184"/>
          </a:xfrm>
          <a:prstGeom prst="rect">
            <a:avLst/>
          </a:prstGeom>
          <a:noFill/>
          <a:ln/>
        </p:spPr>
        <p:txBody>
          <a:bodyPr wrap="square" lIns="0" tIns="0" rIns="0" bIns="0" rtlCol="0" anchor="ctr"/>
          <a:lstStyle/>
          <a:p>
            <a:pPr algn="ctr" indent="0" marL="0">
              <a:buNone/>
            </a:pPr>
            <a:r>
              <a:rPr lang="en-US" sz="1400" b="1" dirty="0">
                <a:solidFill>
                  <a:srgbClr val="003087"/>
                </a:solidFill>
                <a:latin typeface="Trebuchet MS" pitchFamily="34" charset="0"/>
                <a:ea typeface="Trebuchet MS" pitchFamily="34" charset="-122"/>
                <a:cs typeface="Trebuchet MS" pitchFamily="34" charset="-120"/>
              </a:rPr>
              <a:t>IKEA</a:t>
            </a:r>
            <a:endParaRPr lang="en-US" sz="1400" dirty="0"/>
          </a:p>
        </p:txBody>
      </p:sp>
      <p:sp>
        <p:nvSpPr>
          <p:cNvPr id="5" name="Text 3"/>
          <p:cNvSpPr/>
          <p:nvPr/>
        </p:nvSpPr>
        <p:spPr>
          <a:xfrm>
            <a:off x="502920" y="182880"/>
            <a:ext cx="7315200" cy="502920"/>
          </a:xfrm>
          <a:prstGeom prst="rect">
            <a:avLst/>
          </a:prstGeom>
          <a:noFill/>
          <a:ln/>
        </p:spPr>
        <p:txBody>
          <a:bodyPr wrap="square" lIns="0" tIns="0" rIns="0" bIns="0" rtlCol="0" anchor="ctr"/>
          <a:lstStyle/>
          <a:p>
            <a:pPr algn="l" indent="0" marL="0">
              <a:buNone/>
            </a:pPr>
            <a:r>
              <a:rPr lang="en-US" sz="2600" b="1" dirty="0">
                <a:solidFill>
                  <a:srgbClr val="111827"/>
                </a:solidFill>
                <a:latin typeface="Trebuchet MS" pitchFamily="34" charset="0"/>
                <a:ea typeface="Trebuchet MS" pitchFamily="34" charset="-122"/>
                <a:cs typeface="Trebuchet MS" pitchFamily="34" charset="-120"/>
              </a:rPr>
              <a:t>In-Depth Case Analysis</a:t>
            </a:r>
            <a:endParaRPr lang="en-US" sz="2600" dirty="0"/>
          </a:p>
        </p:txBody>
      </p:sp>
      <p:sp>
        <p:nvSpPr>
          <p:cNvPr id="6" name="Shape 4"/>
          <p:cNvSpPr/>
          <p:nvPr/>
        </p:nvSpPr>
        <p:spPr>
          <a:xfrm>
            <a:off x="411480" y="822960"/>
            <a:ext cx="8321040" cy="1335024"/>
          </a:xfrm>
          <a:prstGeom prst="rect">
            <a:avLst/>
          </a:prstGeom>
          <a:solidFill>
            <a:srgbClr val="FFFFFF"/>
          </a:solidFill>
          <a:ln w="6350">
            <a:solidFill>
              <a:srgbClr val="CBD5E1"/>
            </a:solidFill>
            <a:prstDash val="solid"/>
          </a:ln>
          <a:effectLst>
            <a:outerShdw sx="100000" sy="100000" kx="0" ky="0" algn="bl" rotWithShape="0" blurRad="101600" dist="25400" dir="8100000">
              <a:srgbClr val="000000">
                <a:alpha val="10000"/>
              </a:srgbClr>
            </a:outerShdw>
          </a:effectLst>
        </p:spPr>
      </p:sp>
      <p:sp>
        <p:nvSpPr>
          <p:cNvPr id="7" name="Shape 5"/>
          <p:cNvSpPr/>
          <p:nvPr/>
        </p:nvSpPr>
        <p:spPr>
          <a:xfrm>
            <a:off x="411480" y="822960"/>
            <a:ext cx="54864" cy="1335024"/>
          </a:xfrm>
          <a:prstGeom prst="rect">
            <a:avLst/>
          </a:prstGeom>
          <a:solidFill>
            <a:srgbClr val="003087"/>
          </a:solidFill>
          <a:ln w="12700">
            <a:solidFill>
              <a:srgbClr val="003087"/>
            </a:solidFill>
            <a:prstDash val="solid"/>
          </a:ln>
        </p:spPr>
      </p:sp>
      <p:sp>
        <p:nvSpPr>
          <p:cNvPr id="8" name="Shape 6"/>
          <p:cNvSpPr/>
          <p:nvPr/>
        </p:nvSpPr>
        <p:spPr>
          <a:xfrm>
            <a:off x="502920" y="914400"/>
            <a:ext cx="384048" cy="384048"/>
          </a:xfrm>
          <a:prstGeom prst="rect">
            <a:avLst/>
          </a:prstGeom>
          <a:solidFill>
            <a:srgbClr val="FFDA00"/>
          </a:solidFill>
          <a:ln w="12700">
            <a:solidFill>
              <a:srgbClr val="FFDA00"/>
            </a:solidFill>
            <a:prstDash val="solid"/>
          </a:ln>
        </p:spPr>
      </p:sp>
      <p:sp>
        <p:nvSpPr>
          <p:cNvPr id="9" name="Text 7"/>
          <p:cNvSpPr/>
          <p:nvPr/>
        </p:nvSpPr>
        <p:spPr>
          <a:xfrm>
            <a:off x="502920" y="914400"/>
            <a:ext cx="384048" cy="384048"/>
          </a:xfrm>
          <a:prstGeom prst="rect">
            <a:avLst/>
          </a:prstGeom>
          <a:noFill/>
          <a:ln/>
        </p:spPr>
        <p:txBody>
          <a:bodyPr wrap="square" lIns="0" tIns="0" rIns="0" bIns="0" rtlCol="0" anchor="ctr"/>
          <a:lstStyle/>
          <a:p>
            <a:pPr algn="ctr" indent="0" marL="0">
              <a:buNone/>
            </a:pPr>
            <a:r>
              <a:rPr lang="en-US" sz="1600" b="1" dirty="0">
                <a:solidFill>
                  <a:srgbClr val="003087"/>
                </a:solidFill>
                <a:latin typeface="Trebuchet MS" pitchFamily="34" charset="0"/>
                <a:ea typeface="Trebuchet MS" pitchFamily="34" charset="-122"/>
                <a:cs typeface="Trebuchet MS" pitchFamily="34" charset="-120"/>
              </a:rPr>
              <a:t>1</a:t>
            </a:r>
            <a:endParaRPr lang="en-US" sz="1600" dirty="0"/>
          </a:p>
        </p:txBody>
      </p:sp>
      <p:sp>
        <p:nvSpPr>
          <p:cNvPr id="10" name="Text 8"/>
          <p:cNvSpPr/>
          <p:nvPr/>
        </p:nvSpPr>
        <p:spPr>
          <a:xfrm>
            <a:off x="1024128" y="914400"/>
            <a:ext cx="7498080" cy="329184"/>
          </a:xfrm>
          <a:prstGeom prst="rect">
            <a:avLst/>
          </a:prstGeom>
          <a:noFill/>
          <a:ln/>
        </p:spPr>
        <p:txBody>
          <a:bodyPr wrap="square" lIns="0" tIns="0" rIns="0" bIns="0" rtlCol="0" anchor="ctr"/>
          <a:lstStyle/>
          <a:p>
            <a:pPr algn="l" indent="0" marL="0">
              <a:buNone/>
            </a:pPr>
            <a:r>
              <a:rPr lang="en-US" sz="1200" b="1" dirty="0">
                <a:solidFill>
                  <a:srgbClr val="003087"/>
                </a:solidFill>
                <a:latin typeface="Trebuchet MS" pitchFamily="34" charset="0"/>
                <a:ea typeface="Trebuchet MS" pitchFamily="34" charset="-122"/>
                <a:cs typeface="Trebuchet MS" pitchFamily="34" charset="-120"/>
              </a:rPr>
              <a:t>Walmart's Universal Commerce Protocol — Becoming the Default AI Shopping Layer</a:t>
            </a:r>
            <a:endParaRPr lang="en-US" sz="1200" dirty="0"/>
          </a:p>
        </p:txBody>
      </p:sp>
      <p:sp>
        <p:nvSpPr>
          <p:cNvPr id="11" name="Text 9"/>
          <p:cNvSpPr/>
          <p:nvPr/>
        </p:nvSpPr>
        <p:spPr>
          <a:xfrm>
            <a:off x="1024128" y="1280160"/>
            <a:ext cx="3931920" cy="347472"/>
          </a:xfrm>
          <a:prstGeom prst="rect">
            <a:avLst/>
          </a:prstGeom>
          <a:noFill/>
          <a:ln/>
        </p:spPr>
        <p:txBody>
          <a:bodyPr wrap="square" lIns="0" tIns="0" rIns="0" bIns="0" rtlCol="0" anchor="ctr"/>
          <a:lstStyle/>
          <a:p>
            <a:pPr algn="l" indent="0" marL="0">
              <a:buNone/>
            </a:pPr>
            <a:r>
              <a:rPr lang="en-US" sz="950" dirty="0">
                <a:solidFill>
                  <a:srgbClr val="334155"/>
                </a:solidFill>
                <a:latin typeface="Calibri" pitchFamily="34" charset="0"/>
                <a:ea typeface="Calibri" pitchFamily="34" charset="-122"/>
                <a:cs typeface="Calibri" pitchFamily="34" charset="-120"/>
              </a:rPr>
              <a:t>Highlight: Walmart joined UCP with Google, Shopify &amp; Target; commerce embedded in ChatGPT and Gemini with checkout integration; Spa</a:t>
            </a:r>
            <a:endParaRPr lang="en-US" sz="950" dirty="0"/>
          </a:p>
        </p:txBody>
      </p:sp>
      <p:sp>
        <p:nvSpPr>
          <p:cNvPr id="12" name="Text 10"/>
          <p:cNvSpPr/>
          <p:nvPr/>
        </p:nvSpPr>
        <p:spPr>
          <a:xfrm>
            <a:off x="5074920" y="1280160"/>
            <a:ext cx="3474720" cy="347472"/>
          </a:xfrm>
          <a:prstGeom prst="rect">
            <a:avLst/>
          </a:prstGeom>
          <a:noFill/>
          <a:ln/>
        </p:spPr>
        <p:txBody>
          <a:bodyPr wrap="square" lIns="0" tIns="0" rIns="0" bIns="0" rtlCol="0" anchor="ctr"/>
          <a:lstStyle/>
          <a:p>
            <a:pPr algn="l" indent="0" marL="0">
              <a:buNone/>
            </a:pPr>
            <a:r>
              <a:rPr lang="en-US" sz="950" dirty="0">
                <a:solidFill>
                  <a:srgbClr val="334155"/>
                </a:solidFill>
                <a:latin typeface="Calibri" pitchFamily="34" charset="0"/>
                <a:ea typeface="Calibri" pitchFamily="34" charset="-122"/>
                <a:cs typeface="Calibri" pitchFamily="34" charset="-120"/>
              </a:rPr>
              <a:t>Tech: Standardised API layer (UCP) connecting external LLMs to Walmart discovery, purchase, loyalty, post-purchase flows; prop</a:t>
            </a:r>
            <a:endParaRPr lang="en-US" sz="950" dirty="0"/>
          </a:p>
        </p:txBody>
      </p:sp>
      <p:sp>
        <p:nvSpPr>
          <p:cNvPr id="13" name="Text 11"/>
          <p:cNvSpPr/>
          <p:nvPr/>
        </p:nvSpPr>
        <p:spPr>
          <a:xfrm>
            <a:off x="1024128" y="1691640"/>
            <a:ext cx="7498080" cy="347472"/>
          </a:xfrm>
          <a:prstGeom prst="rect">
            <a:avLst/>
          </a:prstGeom>
          <a:noFill/>
          <a:ln/>
        </p:spPr>
        <p:txBody>
          <a:bodyPr wrap="square" lIns="0" tIns="0" rIns="0" bIns="0" rtlCol="0" anchor="ctr"/>
          <a:lstStyle/>
          <a:p>
            <a:pPr algn="l" indent="0" marL="0">
              <a:buNone/>
            </a:pPr>
            <a:r>
              <a:rPr lang="en-US" sz="950" i="1" dirty="0">
                <a:solidFill>
                  <a:srgbClr val="64748B"/>
                </a:solidFill>
                <a:latin typeface="Calibri" pitchFamily="34" charset="0"/>
                <a:ea typeface="Calibri" pitchFamily="34" charset="-122"/>
                <a:cs typeface="Calibri" pitchFamily="34" charset="-120"/>
              </a:rPr>
              <a:t>Business Value: Collapses AI-mediated intent to completed purchase; creates self-reinforcing data flywheel; retailers not integrated int</a:t>
            </a:r>
            <a:endParaRPr lang="en-US" sz="950" dirty="0"/>
          </a:p>
        </p:txBody>
      </p:sp>
      <p:sp>
        <p:nvSpPr>
          <p:cNvPr id="14" name="Shape 12"/>
          <p:cNvSpPr/>
          <p:nvPr/>
        </p:nvSpPr>
        <p:spPr>
          <a:xfrm>
            <a:off x="411480" y="2304288"/>
            <a:ext cx="8321040" cy="1335024"/>
          </a:xfrm>
          <a:prstGeom prst="rect">
            <a:avLst/>
          </a:prstGeom>
          <a:solidFill>
            <a:srgbClr val="FFFFFF"/>
          </a:solidFill>
          <a:ln w="6350">
            <a:solidFill>
              <a:srgbClr val="CBD5E1"/>
            </a:solidFill>
            <a:prstDash val="solid"/>
          </a:ln>
          <a:effectLst>
            <a:outerShdw sx="100000" sy="100000" kx="0" ky="0" algn="bl" rotWithShape="0" blurRad="101600" dist="25400" dir="8100000">
              <a:srgbClr val="000000">
                <a:alpha val="10000"/>
              </a:srgbClr>
            </a:outerShdw>
          </a:effectLst>
        </p:spPr>
      </p:sp>
      <p:sp>
        <p:nvSpPr>
          <p:cNvPr id="15" name="Shape 13"/>
          <p:cNvSpPr/>
          <p:nvPr/>
        </p:nvSpPr>
        <p:spPr>
          <a:xfrm>
            <a:off x="411480" y="2304288"/>
            <a:ext cx="54864" cy="1335024"/>
          </a:xfrm>
          <a:prstGeom prst="rect">
            <a:avLst/>
          </a:prstGeom>
          <a:solidFill>
            <a:srgbClr val="003087"/>
          </a:solidFill>
          <a:ln w="12700">
            <a:solidFill>
              <a:srgbClr val="003087"/>
            </a:solidFill>
            <a:prstDash val="solid"/>
          </a:ln>
        </p:spPr>
      </p:sp>
      <p:sp>
        <p:nvSpPr>
          <p:cNvPr id="16" name="Shape 14"/>
          <p:cNvSpPr/>
          <p:nvPr/>
        </p:nvSpPr>
        <p:spPr>
          <a:xfrm>
            <a:off x="502920" y="2395728"/>
            <a:ext cx="384048" cy="384048"/>
          </a:xfrm>
          <a:prstGeom prst="rect">
            <a:avLst/>
          </a:prstGeom>
          <a:solidFill>
            <a:srgbClr val="FFDA00"/>
          </a:solidFill>
          <a:ln w="12700">
            <a:solidFill>
              <a:srgbClr val="FFDA00"/>
            </a:solidFill>
            <a:prstDash val="solid"/>
          </a:ln>
        </p:spPr>
      </p:sp>
      <p:sp>
        <p:nvSpPr>
          <p:cNvPr id="17" name="Text 15"/>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600" b="1" dirty="0">
                <a:solidFill>
                  <a:srgbClr val="003087"/>
                </a:solidFill>
                <a:latin typeface="Trebuchet MS" pitchFamily="34" charset="0"/>
                <a:ea typeface="Trebuchet MS" pitchFamily="34" charset="-122"/>
                <a:cs typeface="Trebuchet MS" pitchFamily="34" charset="-120"/>
              </a:rPr>
              <a:t>2</a:t>
            </a:r>
            <a:endParaRPr lang="en-US" sz="1600" dirty="0"/>
          </a:p>
        </p:txBody>
      </p:sp>
      <p:sp>
        <p:nvSpPr>
          <p:cNvPr id="18" name="Text 16"/>
          <p:cNvSpPr/>
          <p:nvPr/>
        </p:nvSpPr>
        <p:spPr>
          <a:xfrm>
            <a:off x="1024128" y="2395728"/>
            <a:ext cx="7498080" cy="329184"/>
          </a:xfrm>
          <a:prstGeom prst="rect">
            <a:avLst/>
          </a:prstGeom>
          <a:noFill/>
          <a:ln/>
        </p:spPr>
        <p:txBody>
          <a:bodyPr wrap="square" lIns="0" tIns="0" rIns="0" bIns="0" rtlCol="0" anchor="ctr"/>
          <a:lstStyle/>
          <a:p>
            <a:pPr algn="l" indent="0" marL="0">
              <a:buNone/>
            </a:pPr>
            <a:r>
              <a:rPr lang="en-US" sz="1200" b="1" dirty="0">
                <a:solidFill>
                  <a:srgbClr val="003087"/>
                </a:solidFill>
                <a:latin typeface="Trebuchet MS" pitchFamily="34" charset="0"/>
                <a:ea typeface="Trebuchet MS" pitchFamily="34" charset="-122"/>
                <a:cs typeface="Trebuchet MS" pitchFamily="34" charset="-120"/>
              </a:rPr>
              <a:t>Amazon Project Kobe — AI-Native Physical Retail at Supercenter Scale</a:t>
            </a:r>
            <a:endParaRPr lang="en-US" sz="1200" dirty="0"/>
          </a:p>
        </p:txBody>
      </p:sp>
      <p:sp>
        <p:nvSpPr>
          <p:cNvPr id="19" name="Text 17"/>
          <p:cNvSpPr/>
          <p:nvPr/>
        </p:nvSpPr>
        <p:spPr>
          <a:xfrm>
            <a:off x="1024128" y="2761488"/>
            <a:ext cx="3931920" cy="347472"/>
          </a:xfrm>
          <a:prstGeom prst="rect">
            <a:avLst/>
          </a:prstGeom>
          <a:noFill/>
          <a:ln/>
        </p:spPr>
        <p:txBody>
          <a:bodyPr wrap="square" lIns="0" tIns="0" rIns="0" bIns="0" rtlCol="0" anchor="ctr"/>
          <a:lstStyle/>
          <a:p>
            <a:pPr algn="l" indent="0" marL="0">
              <a:buNone/>
            </a:pPr>
            <a:r>
              <a:rPr lang="en-US" sz="950" dirty="0">
                <a:solidFill>
                  <a:srgbClr val="334155"/>
                </a:solidFill>
                <a:latin typeface="Calibri" pitchFamily="34" charset="0"/>
                <a:ea typeface="Calibri" pitchFamily="34" charset="-122"/>
                <a:cs typeface="Calibri" pitchFamily="34" charset="-120"/>
              </a:rPr>
              <a:t>Highlight: First Kobe store live (Orland Park, IL); 200K sq ft with 100K sq ft embedded AI warehouse; 250,000 SKUs; Blue Jay robots</a:t>
            </a:r>
            <a:endParaRPr lang="en-US" sz="950" dirty="0"/>
          </a:p>
        </p:txBody>
      </p:sp>
      <p:sp>
        <p:nvSpPr>
          <p:cNvPr id="20" name="Text 18"/>
          <p:cNvSpPr/>
          <p:nvPr/>
        </p:nvSpPr>
        <p:spPr>
          <a:xfrm>
            <a:off x="5074920" y="2761488"/>
            <a:ext cx="3474720" cy="347472"/>
          </a:xfrm>
          <a:prstGeom prst="rect">
            <a:avLst/>
          </a:prstGeom>
          <a:noFill/>
          <a:ln/>
        </p:spPr>
        <p:txBody>
          <a:bodyPr wrap="square" lIns="0" tIns="0" rIns="0" bIns="0" rtlCol="0" anchor="ctr"/>
          <a:lstStyle/>
          <a:p>
            <a:pPr algn="l" indent="0" marL="0">
              <a:buNone/>
            </a:pPr>
            <a:r>
              <a:rPr lang="en-US" sz="950" dirty="0">
                <a:solidFill>
                  <a:srgbClr val="334155"/>
                </a:solidFill>
                <a:latin typeface="Calibri" pitchFamily="34" charset="0"/>
                <a:ea typeface="Calibri" pitchFamily="34" charset="-122"/>
                <a:cs typeface="Calibri" pitchFamily="34" charset="-120"/>
              </a:rPr>
              <a:t>Tech: Proteus &amp; Sparrow robots for fulfillment; Blue Jay multi-arm system collapses 3 lines into 1; Project Eluna processes re</a:t>
            </a:r>
            <a:endParaRPr lang="en-US" sz="950" dirty="0"/>
          </a:p>
        </p:txBody>
      </p:sp>
      <p:sp>
        <p:nvSpPr>
          <p:cNvPr id="21" name="Text 19"/>
          <p:cNvSpPr/>
          <p:nvPr/>
        </p:nvSpPr>
        <p:spPr>
          <a:xfrm>
            <a:off x="1024128" y="3172968"/>
            <a:ext cx="7498080" cy="347472"/>
          </a:xfrm>
          <a:prstGeom prst="rect">
            <a:avLst/>
          </a:prstGeom>
          <a:noFill/>
          <a:ln/>
        </p:spPr>
        <p:txBody>
          <a:bodyPr wrap="square" lIns="0" tIns="0" rIns="0" bIns="0" rtlCol="0" anchor="ctr"/>
          <a:lstStyle/>
          <a:p>
            <a:pPr algn="l" indent="0" marL="0">
              <a:buNone/>
            </a:pPr>
            <a:r>
              <a:rPr lang="en-US" sz="950" i="1" dirty="0">
                <a:solidFill>
                  <a:srgbClr val="64748B"/>
                </a:solidFill>
                <a:latin typeface="Calibri" pitchFamily="34" charset="0"/>
                <a:ea typeface="Calibri" pitchFamily="34" charset="-122"/>
                <a:cs typeface="Calibri" pitchFamily="34" charset="-120"/>
              </a:rPr>
              <a:t>Business Value: Each store serves as retail revenue surface and last-mile hub; 12% higher fulfillment cost currently but foundational fo</a:t>
            </a:r>
            <a:endParaRPr lang="en-US" sz="950" dirty="0"/>
          </a:p>
        </p:txBody>
      </p:sp>
      <p:sp>
        <p:nvSpPr>
          <p:cNvPr id="22" name="Shape 20"/>
          <p:cNvSpPr/>
          <p:nvPr/>
        </p:nvSpPr>
        <p:spPr>
          <a:xfrm>
            <a:off x="411480" y="3785616"/>
            <a:ext cx="8321040" cy="1335024"/>
          </a:xfrm>
          <a:prstGeom prst="rect">
            <a:avLst/>
          </a:prstGeom>
          <a:solidFill>
            <a:srgbClr val="FFFFFF"/>
          </a:solidFill>
          <a:ln w="6350">
            <a:solidFill>
              <a:srgbClr val="CBD5E1"/>
            </a:solidFill>
            <a:prstDash val="solid"/>
          </a:ln>
          <a:effectLst>
            <a:outerShdw sx="100000" sy="100000" kx="0" ky="0" algn="bl" rotWithShape="0" blurRad="101600" dist="25400" dir="8100000">
              <a:srgbClr val="000000">
                <a:alpha val="10000"/>
              </a:srgbClr>
            </a:outerShdw>
          </a:effectLst>
        </p:spPr>
      </p:sp>
      <p:sp>
        <p:nvSpPr>
          <p:cNvPr id="23" name="Shape 21"/>
          <p:cNvSpPr/>
          <p:nvPr/>
        </p:nvSpPr>
        <p:spPr>
          <a:xfrm>
            <a:off x="411480" y="3785616"/>
            <a:ext cx="54864" cy="1335024"/>
          </a:xfrm>
          <a:prstGeom prst="rect">
            <a:avLst/>
          </a:prstGeom>
          <a:solidFill>
            <a:srgbClr val="003087"/>
          </a:solidFill>
          <a:ln w="12700">
            <a:solidFill>
              <a:srgbClr val="003087"/>
            </a:solidFill>
            <a:prstDash val="solid"/>
          </a:ln>
        </p:spPr>
      </p:sp>
      <p:sp>
        <p:nvSpPr>
          <p:cNvPr id="24" name="Shape 22"/>
          <p:cNvSpPr/>
          <p:nvPr/>
        </p:nvSpPr>
        <p:spPr>
          <a:xfrm>
            <a:off x="502920" y="3877056"/>
            <a:ext cx="384048" cy="384048"/>
          </a:xfrm>
          <a:prstGeom prst="rect">
            <a:avLst/>
          </a:prstGeom>
          <a:solidFill>
            <a:srgbClr val="FFDA00"/>
          </a:solidFill>
          <a:ln w="12700">
            <a:solidFill>
              <a:srgbClr val="FFDA00"/>
            </a:solidFill>
            <a:prstDash val="solid"/>
          </a:ln>
        </p:spPr>
      </p:sp>
      <p:sp>
        <p:nvSpPr>
          <p:cNvPr id="25" name="Text 23"/>
          <p:cNvSpPr/>
          <p:nvPr/>
        </p:nvSpPr>
        <p:spPr>
          <a:xfrm>
            <a:off x="502920" y="3877056"/>
            <a:ext cx="384048" cy="384048"/>
          </a:xfrm>
          <a:prstGeom prst="rect">
            <a:avLst/>
          </a:prstGeom>
          <a:noFill/>
          <a:ln/>
        </p:spPr>
        <p:txBody>
          <a:bodyPr wrap="square" lIns="0" tIns="0" rIns="0" bIns="0" rtlCol="0" anchor="ctr"/>
          <a:lstStyle/>
          <a:p>
            <a:pPr algn="ctr" indent="0" marL="0">
              <a:buNone/>
            </a:pPr>
            <a:r>
              <a:rPr lang="en-US" sz="1600" b="1" dirty="0">
                <a:solidFill>
                  <a:srgbClr val="003087"/>
                </a:solidFill>
                <a:latin typeface="Trebuchet MS" pitchFamily="34" charset="0"/>
                <a:ea typeface="Trebuchet MS" pitchFamily="34" charset="-122"/>
                <a:cs typeface="Trebuchet MS" pitchFamily="34" charset="-120"/>
              </a:rPr>
              <a:t>3</a:t>
            </a:r>
            <a:endParaRPr lang="en-US" sz="1600" dirty="0"/>
          </a:p>
        </p:txBody>
      </p:sp>
      <p:sp>
        <p:nvSpPr>
          <p:cNvPr id="26" name="Text 24"/>
          <p:cNvSpPr/>
          <p:nvPr/>
        </p:nvSpPr>
        <p:spPr>
          <a:xfrm>
            <a:off x="1024128" y="3877056"/>
            <a:ext cx="7498080" cy="329184"/>
          </a:xfrm>
          <a:prstGeom prst="rect">
            <a:avLst/>
          </a:prstGeom>
          <a:noFill/>
          <a:ln/>
        </p:spPr>
        <p:txBody>
          <a:bodyPr wrap="square" lIns="0" tIns="0" rIns="0" bIns="0" rtlCol="0" anchor="ctr"/>
          <a:lstStyle/>
          <a:p>
            <a:pPr algn="l" indent="0" marL="0">
              <a:buNone/>
            </a:pPr>
            <a:r>
              <a:rPr lang="en-US" sz="1200" b="1" dirty="0">
                <a:solidFill>
                  <a:srgbClr val="003087"/>
                </a:solidFill>
                <a:latin typeface="Trebuchet MS" pitchFamily="34" charset="0"/>
                <a:ea typeface="Trebuchet MS" pitchFamily="34" charset="-122"/>
                <a:cs typeface="Trebuchet MS" pitchFamily="34" charset="-120"/>
              </a:rPr>
              <a:t>Sephora × OpenAI — Conversational Commerce Meets Beauty Expertise at Scale</a:t>
            </a:r>
            <a:endParaRPr lang="en-US" sz="1200" dirty="0"/>
          </a:p>
        </p:txBody>
      </p:sp>
      <p:sp>
        <p:nvSpPr>
          <p:cNvPr id="27" name="Text 25"/>
          <p:cNvSpPr/>
          <p:nvPr/>
        </p:nvSpPr>
        <p:spPr>
          <a:xfrm>
            <a:off x="1024128" y="4242816"/>
            <a:ext cx="3931920" cy="347472"/>
          </a:xfrm>
          <a:prstGeom prst="rect">
            <a:avLst/>
          </a:prstGeom>
          <a:noFill/>
          <a:ln/>
        </p:spPr>
        <p:txBody>
          <a:bodyPr wrap="square" lIns="0" tIns="0" rIns="0" bIns="0" rtlCol="0" anchor="ctr"/>
          <a:lstStyle/>
          <a:p>
            <a:pPr algn="l" indent="0" marL="0">
              <a:buNone/>
            </a:pPr>
            <a:r>
              <a:rPr lang="en-US" sz="950" dirty="0">
                <a:solidFill>
                  <a:srgbClr val="334155"/>
                </a:solidFill>
                <a:latin typeface="Calibri" pitchFamily="34" charset="0"/>
                <a:ea typeface="Calibri" pitchFamily="34" charset="-122"/>
                <a:cs typeface="Calibri" pitchFamily="34" charset="-120"/>
              </a:rPr>
              <a:t>Highlight: Sephora launched ChatGPT shopping app for 80M+ Beauty Insider members in US; loyalty benefits, personalised recs, and AI</a:t>
            </a:r>
            <a:endParaRPr lang="en-US" sz="950" dirty="0"/>
          </a:p>
        </p:txBody>
      </p:sp>
      <p:sp>
        <p:nvSpPr>
          <p:cNvPr id="28" name="Text 26"/>
          <p:cNvSpPr/>
          <p:nvPr/>
        </p:nvSpPr>
        <p:spPr>
          <a:xfrm>
            <a:off x="5074920" y="4242816"/>
            <a:ext cx="3474720" cy="347472"/>
          </a:xfrm>
          <a:prstGeom prst="rect">
            <a:avLst/>
          </a:prstGeom>
          <a:noFill/>
          <a:ln/>
        </p:spPr>
        <p:txBody>
          <a:bodyPr wrap="square" lIns="0" tIns="0" rIns="0" bIns="0" rtlCol="0" anchor="ctr"/>
          <a:lstStyle/>
          <a:p>
            <a:pPr algn="l" indent="0" marL="0">
              <a:buNone/>
            </a:pPr>
            <a:r>
              <a:rPr lang="en-US" sz="950" dirty="0">
                <a:solidFill>
                  <a:srgbClr val="334155"/>
                </a:solidFill>
                <a:latin typeface="Calibri" pitchFamily="34" charset="0"/>
                <a:ea typeface="Calibri" pitchFamily="34" charset="-122"/>
                <a:cs typeface="Calibri" pitchFamily="34" charset="-120"/>
              </a:rPr>
              <a:t>Tech: ChatGPT app pulls from Beauty Insider profiles for personalisation; conversational prompts routed through Sephora catalo</a:t>
            </a:r>
            <a:endParaRPr lang="en-US" sz="950" dirty="0"/>
          </a:p>
        </p:txBody>
      </p:sp>
      <p:sp>
        <p:nvSpPr>
          <p:cNvPr id="29" name="Text 27"/>
          <p:cNvSpPr/>
          <p:nvPr/>
        </p:nvSpPr>
        <p:spPr>
          <a:xfrm>
            <a:off x="1024128" y="4654296"/>
            <a:ext cx="7498080" cy="347472"/>
          </a:xfrm>
          <a:prstGeom prst="rect">
            <a:avLst/>
          </a:prstGeom>
          <a:noFill/>
          <a:ln/>
        </p:spPr>
        <p:txBody>
          <a:bodyPr wrap="square" lIns="0" tIns="0" rIns="0" bIns="0" rtlCol="0" anchor="ctr"/>
          <a:lstStyle/>
          <a:p>
            <a:pPr algn="l" indent="0" marL="0">
              <a:buNone/>
            </a:pPr>
            <a:r>
              <a:rPr lang="en-US" sz="950" i="1" dirty="0">
                <a:solidFill>
                  <a:srgbClr val="64748B"/>
                </a:solidFill>
                <a:latin typeface="Calibri" pitchFamily="34" charset="0"/>
                <a:ea typeface="Calibri" pitchFamily="34" charset="-122"/>
                <a:cs typeface="Calibri" pitchFamily="34" charset="-120"/>
              </a:rPr>
              <a:t>Business Value: AI trend forecasting shortened launch cycles 30–40%; intercepts discovery moments before shoppers reach any brand platfo</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FFDA00"/>
          </a:solidFill>
          <a:ln w="12700">
            <a:solidFill>
              <a:srgbClr val="FFDA00"/>
            </a:solidFill>
            <a:prstDash val="solid"/>
          </a:ln>
        </p:spPr>
      </p:sp>
      <p:sp>
        <p:nvSpPr>
          <p:cNvPr id="3" name="Shape 1"/>
          <p:cNvSpPr/>
          <p:nvPr/>
        </p:nvSpPr>
        <p:spPr>
          <a:xfrm>
            <a:off x="457200" y="201168"/>
            <a:ext cx="1280160" cy="530352"/>
          </a:xfrm>
          <a:prstGeom prst="rect">
            <a:avLst/>
          </a:prstGeom>
          <a:solidFill>
            <a:srgbClr val="FFDA00"/>
          </a:solidFill>
          <a:ln w="12700">
            <a:solidFill>
              <a:srgbClr val="FFDA00"/>
            </a:solidFill>
            <a:prstDash val="solid"/>
          </a:ln>
        </p:spPr>
      </p:sp>
      <p:sp>
        <p:nvSpPr>
          <p:cNvPr id="4" name="Text 2"/>
          <p:cNvSpPr/>
          <p:nvPr/>
        </p:nvSpPr>
        <p:spPr>
          <a:xfrm>
            <a:off x="457200" y="201168"/>
            <a:ext cx="1280160" cy="530352"/>
          </a:xfrm>
          <a:prstGeom prst="rect">
            <a:avLst/>
          </a:prstGeom>
          <a:noFill/>
          <a:ln/>
        </p:spPr>
        <p:txBody>
          <a:bodyPr wrap="square" lIns="0" tIns="0" rIns="0" bIns="0" rtlCol="0" anchor="ctr"/>
          <a:lstStyle/>
          <a:p>
            <a:pPr algn="ctr" indent="0" marL="0">
              <a:buNone/>
            </a:pPr>
            <a:r>
              <a:rPr lang="en-US" sz="2400" b="1" dirty="0">
                <a:solidFill>
                  <a:srgbClr val="003087"/>
                </a:solidFill>
                <a:latin typeface="Trebuchet MS" pitchFamily="34" charset="0"/>
                <a:ea typeface="Trebuchet MS" pitchFamily="34" charset="-122"/>
                <a:cs typeface="Trebuchet MS" pitchFamily="34" charset="-120"/>
              </a:rPr>
              <a:t>IKEA</a:t>
            </a:r>
            <a:endParaRPr lang="en-US" sz="2400" dirty="0"/>
          </a:p>
        </p:txBody>
      </p:sp>
      <p:sp>
        <p:nvSpPr>
          <p:cNvPr id="5" name="Text 3"/>
          <p:cNvSpPr/>
          <p:nvPr/>
        </p:nvSpPr>
        <p:spPr>
          <a:xfrm>
            <a:off x="1920240" y="256032"/>
            <a:ext cx="6858000" cy="457200"/>
          </a:xfrm>
          <a:prstGeom prst="rect">
            <a:avLst/>
          </a:prstGeom>
          <a:noFill/>
          <a:ln/>
        </p:spPr>
        <p:txBody>
          <a:bodyPr wrap="square" lIns="0" tIns="0" rIns="0" bIns="0" rtlCol="0" anchor="ctr"/>
          <a:lstStyle/>
          <a:p>
            <a:pPr algn="l" indent="0" marL="0">
              <a:buNone/>
            </a:pPr>
            <a:r>
              <a:rPr lang="en-US" sz="2200" b="1" dirty="0">
                <a:solidFill>
                  <a:srgbClr val="FFFFFF"/>
                </a:solidFill>
                <a:latin typeface="Trebuchet MS" pitchFamily="34" charset="0"/>
                <a:ea typeface="Trebuchet MS" pitchFamily="34" charset="-122"/>
                <a:cs typeface="Trebuchet MS" pitchFamily="34" charset="-120"/>
              </a:rPr>
              <a:t>Actionable Recommendations for IKEA</a:t>
            </a:r>
            <a:endParaRPr lang="en-US" sz="2200" dirty="0"/>
          </a:p>
        </p:txBody>
      </p:sp>
      <p:sp>
        <p:nvSpPr>
          <p:cNvPr id="6" name="Text 4"/>
          <p:cNvSpPr/>
          <p:nvPr/>
        </p:nvSpPr>
        <p:spPr>
          <a:xfrm>
            <a:off x="1920240" y="731520"/>
            <a:ext cx="6858000" cy="256032"/>
          </a:xfrm>
          <a:prstGeom prst="rect">
            <a:avLst/>
          </a:prstGeom>
          <a:noFill/>
          <a:ln/>
        </p:spPr>
        <p:txBody>
          <a:bodyPr wrap="square" lIns="0" tIns="0" rIns="0" bIns="0" rtlCol="0" anchor="ctr"/>
          <a:lstStyle/>
          <a:p>
            <a:pPr algn="l" indent="0" marL="0">
              <a:buNone/>
            </a:pPr>
            <a:r>
              <a:rPr lang="en-US" sz="1100" dirty="0">
                <a:solidFill>
                  <a:srgbClr val="FFDA00"/>
                </a:solidFill>
                <a:latin typeface="Calibri" pitchFamily="34" charset="0"/>
                <a:ea typeface="Calibri" pitchFamily="34" charset="-122"/>
                <a:cs typeface="Calibri" pitchFamily="34" charset="-120"/>
              </a:rPr>
              <a:t>Grounded in this week's developments · Immediately actionable</a:t>
            </a:r>
            <a:endParaRPr lang="en-US" sz="1100" dirty="0"/>
          </a:p>
        </p:txBody>
      </p:sp>
      <p:sp>
        <p:nvSpPr>
          <p:cNvPr id="7" name="Shape 5"/>
          <p:cNvSpPr/>
          <p:nvPr/>
        </p:nvSpPr>
        <p:spPr>
          <a:xfrm>
            <a:off x="365760" y="1115568"/>
            <a:ext cx="4251960" cy="1371600"/>
          </a:xfrm>
          <a:prstGeom prst="rect">
            <a:avLst/>
          </a:prstGeom>
          <a:solidFill>
            <a:srgbClr val="FFFFFF">
              <a:alpha val="10000"/>
            </a:srgbClr>
          </a:solidFill>
          <a:ln w="10160">
            <a:solidFill>
              <a:srgbClr val="FFDA00">
                <a:alpha val="60000"/>
              </a:srgbClr>
            </a:solidFill>
            <a:prstDash val="solid"/>
          </a:ln>
        </p:spPr>
      </p:sp>
      <p:sp>
        <p:nvSpPr>
          <p:cNvPr id="8" name="Shape 6"/>
          <p:cNvSpPr/>
          <p:nvPr/>
        </p:nvSpPr>
        <p:spPr>
          <a:xfrm>
            <a:off x="365760" y="1115568"/>
            <a:ext cx="50292" cy="1371600"/>
          </a:xfrm>
          <a:prstGeom prst="rect">
            <a:avLst/>
          </a:prstGeom>
          <a:solidFill>
            <a:srgbClr val="FFDA00"/>
          </a:solidFill>
          <a:ln w="12700">
            <a:solidFill>
              <a:srgbClr val="FFDA00"/>
            </a:solidFill>
            <a:prstDash val="solid"/>
          </a:ln>
        </p:spPr>
      </p:sp>
      <p:sp>
        <p:nvSpPr>
          <p:cNvPr id="9" name="Text 7"/>
          <p:cNvSpPr/>
          <p:nvPr/>
        </p:nvSpPr>
        <p:spPr>
          <a:xfrm>
            <a:off x="530352" y="1207008"/>
            <a:ext cx="3995928" cy="329184"/>
          </a:xfrm>
          <a:prstGeom prst="rect">
            <a:avLst/>
          </a:prstGeom>
          <a:noFill/>
          <a:ln/>
        </p:spPr>
        <p:txBody>
          <a:bodyPr wrap="square" lIns="0" tIns="0" rIns="0" bIns="0" rtlCol="0" anchor="ctr"/>
          <a:lstStyle/>
          <a:p>
            <a:pPr algn="l" indent="0" marL="0">
              <a:buNone/>
            </a:pPr>
            <a:r>
              <a:rPr lang="en-US" sz="1100" b="1" dirty="0">
                <a:solidFill>
                  <a:srgbClr val="FFDA00"/>
                </a:solidFill>
                <a:latin typeface="Trebuchet MS" pitchFamily="34" charset="0"/>
                <a:ea typeface="Trebuchet MS" pitchFamily="34" charset="-122"/>
                <a:cs typeface="Trebuchet MS" pitchFamily="34" charset="-120"/>
              </a:rPr>
              <a:t>01  Integrate IKEA Commerce into External AI Agents</a:t>
            </a:r>
            <a:endParaRPr lang="en-US" sz="1100" dirty="0"/>
          </a:p>
        </p:txBody>
      </p:sp>
      <p:sp>
        <p:nvSpPr>
          <p:cNvPr id="10" name="Text 8"/>
          <p:cNvSpPr/>
          <p:nvPr/>
        </p:nvSpPr>
        <p:spPr>
          <a:xfrm>
            <a:off x="530352" y="1572768"/>
            <a:ext cx="3995928" cy="804672"/>
          </a:xfrm>
          <a:prstGeom prst="rect">
            <a:avLst/>
          </a:prstGeom>
          <a:noFill/>
          <a:ln/>
        </p:spPr>
        <p:txBody>
          <a:bodyPr wrap="square" lIns="0" tIns="0" rIns="0" bIns="0" rtlCol="0" anchor="ctr"/>
          <a:lstStyle/>
          <a:p>
            <a:pPr indent="0" marL="0">
              <a:lnSpc>
                <a:spcPct val="125000"/>
              </a:lnSpc>
              <a:buNone/>
            </a:pPr>
            <a:r>
              <a:rPr lang="en-US" sz="950" dirty="0">
                <a:solidFill>
                  <a:srgbClr val="FFFFFF"/>
                </a:solidFill>
                <a:latin typeface="Calibri" pitchFamily="34" charset="0"/>
                <a:ea typeface="Calibri" pitchFamily="34" charset="-122"/>
                <a:cs typeface="Calibri" pitchFamily="34" charset="-120"/>
              </a:rPr>
              <a:t>Pursue API integration with ChatGPT, Google Gemini, and UCP frameworks now. Prioritise home planning use cases — intercept queries like 'furnish a small living room' with shoppable IKEA recommendations as a direct revenue lever.</a:t>
            </a:r>
            <a:endParaRPr lang="en-US" sz="950" dirty="0"/>
          </a:p>
        </p:txBody>
      </p:sp>
      <p:sp>
        <p:nvSpPr>
          <p:cNvPr id="11" name="Shape 9"/>
          <p:cNvSpPr/>
          <p:nvPr/>
        </p:nvSpPr>
        <p:spPr>
          <a:xfrm>
            <a:off x="4828032" y="1115568"/>
            <a:ext cx="4251960" cy="1371600"/>
          </a:xfrm>
          <a:prstGeom prst="rect">
            <a:avLst/>
          </a:prstGeom>
          <a:solidFill>
            <a:srgbClr val="FFFFFF">
              <a:alpha val="10000"/>
            </a:srgbClr>
          </a:solidFill>
          <a:ln w="10160">
            <a:solidFill>
              <a:srgbClr val="FFDA00">
                <a:alpha val="60000"/>
              </a:srgbClr>
            </a:solidFill>
            <a:prstDash val="solid"/>
          </a:ln>
        </p:spPr>
      </p:sp>
      <p:sp>
        <p:nvSpPr>
          <p:cNvPr id="12" name="Shape 10"/>
          <p:cNvSpPr/>
          <p:nvPr/>
        </p:nvSpPr>
        <p:spPr>
          <a:xfrm>
            <a:off x="4828032" y="1115568"/>
            <a:ext cx="50292" cy="1371600"/>
          </a:xfrm>
          <a:prstGeom prst="rect">
            <a:avLst/>
          </a:prstGeom>
          <a:solidFill>
            <a:srgbClr val="FFDA00"/>
          </a:solidFill>
          <a:ln w="12700">
            <a:solidFill>
              <a:srgbClr val="FFDA00"/>
            </a:solidFill>
            <a:prstDash val="solid"/>
          </a:ln>
        </p:spPr>
      </p:sp>
      <p:sp>
        <p:nvSpPr>
          <p:cNvPr id="13" name="Text 11"/>
          <p:cNvSpPr/>
          <p:nvPr/>
        </p:nvSpPr>
        <p:spPr>
          <a:xfrm>
            <a:off x="4992624" y="1207008"/>
            <a:ext cx="3995928" cy="329184"/>
          </a:xfrm>
          <a:prstGeom prst="rect">
            <a:avLst/>
          </a:prstGeom>
          <a:noFill/>
          <a:ln/>
        </p:spPr>
        <p:txBody>
          <a:bodyPr wrap="square" lIns="0" tIns="0" rIns="0" bIns="0" rtlCol="0" anchor="ctr"/>
          <a:lstStyle/>
          <a:p>
            <a:pPr algn="l" indent="0" marL="0">
              <a:buNone/>
            </a:pPr>
            <a:r>
              <a:rPr lang="en-US" sz="1100" b="1" dirty="0">
                <a:solidFill>
                  <a:srgbClr val="FFDA00"/>
                </a:solidFill>
                <a:latin typeface="Trebuchet MS" pitchFamily="34" charset="0"/>
                <a:ea typeface="Trebuchet MS" pitchFamily="34" charset="-122"/>
                <a:cs typeface="Trebuchet MS" pitchFamily="34" charset="-120"/>
              </a:rPr>
              <a:t>02  Accelerate Digital Shelf Label &amp; AI Inventory Rollout</a:t>
            </a:r>
            <a:endParaRPr lang="en-US" sz="1100" dirty="0"/>
          </a:p>
        </p:txBody>
      </p:sp>
      <p:sp>
        <p:nvSpPr>
          <p:cNvPr id="14" name="Text 12"/>
          <p:cNvSpPr/>
          <p:nvPr/>
        </p:nvSpPr>
        <p:spPr>
          <a:xfrm>
            <a:off x="4992624" y="1572768"/>
            <a:ext cx="3995928" cy="804672"/>
          </a:xfrm>
          <a:prstGeom prst="rect">
            <a:avLst/>
          </a:prstGeom>
          <a:noFill/>
          <a:ln/>
        </p:spPr>
        <p:txBody>
          <a:bodyPr wrap="square" lIns="0" tIns="0" rIns="0" bIns="0" rtlCol="0" anchor="ctr"/>
          <a:lstStyle/>
          <a:p>
            <a:pPr indent="0" marL="0">
              <a:lnSpc>
                <a:spcPct val="125000"/>
              </a:lnSpc>
              <a:buNone/>
            </a:pPr>
            <a:r>
              <a:rPr lang="en-US" sz="950" dirty="0">
                <a:solidFill>
                  <a:srgbClr val="FFFFFF"/>
                </a:solidFill>
                <a:latin typeface="Calibri" pitchFamily="34" charset="0"/>
                <a:ea typeface="Calibri" pitchFamily="34" charset="-122"/>
                <a:cs typeface="Calibri" pitchFamily="34" charset="-120"/>
              </a:rPr>
              <a:t>Walmart's DSL deployment to 5,200 stores by 2027 resets industry standards. Deploy DSLs with computer-vision inventory tracking across IKEA stores to reduce stock discrepancies, enable dynamic clearance pricing, and improve fulfilment visibility.</a:t>
            </a:r>
            <a:endParaRPr lang="en-US" sz="950" dirty="0"/>
          </a:p>
        </p:txBody>
      </p:sp>
      <p:sp>
        <p:nvSpPr>
          <p:cNvPr id="15" name="Shape 13"/>
          <p:cNvSpPr/>
          <p:nvPr/>
        </p:nvSpPr>
        <p:spPr>
          <a:xfrm>
            <a:off x="365760" y="2651760"/>
            <a:ext cx="4251960" cy="1371600"/>
          </a:xfrm>
          <a:prstGeom prst="rect">
            <a:avLst/>
          </a:prstGeom>
          <a:solidFill>
            <a:srgbClr val="FFFFFF">
              <a:alpha val="10000"/>
            </a:srgbClr>
          </a:solidFill>
          <a:ln w="10160">
            <a:solidFill>
              <a:srgbClr val="FFDA00">
                <a:alpha val="60000"/>
              </a:srgbClr>
            </a:solidFill>
            <a:prstDash val="solid"/>
          </a:ln>
        </p:spPr>
      </p:sp>
      <p:sp>
        <p:nvSpPr>
          <p:cNvPr id="16" name="Shape 14"/>
          <p:cNvSpPr/>
          <p:nvPr/>
        </p:nvSpPr>
        <p:spPr>
          <a:xfrm>
            <a:off x="365760" y="2651760"/>
            <a:ext cx="50292" cy="1371600"/>
          </a:xfrm>
          <a:prstGeom prst="rect">
            <a:avLst/>
          </a:prstGeom>
          <a:solidFill>
            <a:srgbClr val="FFDA00"/>
          </a:solidFill>
          <a:ln w="12700">
            <a:solidFill>
              <a:srgbClr val="FFDA00"/>
            </a:solidFill>
            <a:prstDash val="solid"/>
          </a:ln>
        </p:spPr>
      </p:sp>
      <p:sp>
        <p:nvSpPr>
          <p:cNvPr id="17" name="Text 15"/>
          <p:cNvSpPr/>
          <p:nvPr/>
        </p:nvSpPr>
        <p:spPr>
          <a:xfrm>
            <a:off x="530352" y="2743200"/>
            <a:ext cx="3995928" cy="329184"/>
          </a:xfrm>
          <a:prstGeom prst="rect">
            <a:avLst/>
          </a:prstGeom>
          <a:noFill/>
          <a:ln/>
        </p:spPr>
        <p:txBody>
          <a:bodyPr wrap="square" lIns="0" tIns="0" rIns="0" bIns="0" rtlCol="0" anchor="ctr"/>
          <a:lstStyle/>
          <a:p>
            <a:pPr algn="l" indent="0" marL="0">
              <a:buNone/>
            </a:pPr>
            <a:r>
              <a:rPr lang="en-US" sz="1100" b="1" dirty="0">
                <a:solidFill>
                  <a:srgbClr val="FFDA00"/>
                </a:solidFill>
                <a:latin typeface="Trebuchet MS" pitchFamily="34" charset="0"/>
                <a:ea typeface="Trebuchet MS" pitchFamily="34" charset="-122"/>
                <a:cs typeface="Trebuchet MS" pitchFamily="34" charset="-120"/>
              </a:rPr>
              <a:t>03  Build Agentic AI Supply Chain Resilience</a:t>
            </a:r>
            <a:endParaRPr lang="en-US" sz="1100" dirty="0"/>
          </a:p>
        </p:txBody>
      </p:sp>
      <p:sp>
        <p:nvSpPr>
          <p:cNvPr id="18" name="Text 16"/>
          <p:cNvSpPr/>
          <p:nvPr/>
        </p:nvSpPr>
        <p:spPr>
          <a:xfrm>
            <a:off x="530352" y="3108960"/>
            <a:ext cx="3995928" cy="804672"/>
          </a:xfrm>
          <a:prstGeom prst="rect">
            <a:avLst/>
          </a:prstGeom>
          <a:noFill/>
          <a:ln/>
        </p:spPr>
        <p:txBody>
          <a:bodyPr wrap="square" lIns="0" tIns="0" rIns="0" bIns="0" rtlCol="0" anchor="ctr"/>
          <a:lstStyle/>
          <a:p>
            <a:pPr indent="0" marL="0">
              <a:lnSpc>
                <a:spcPct val="125000"/>
              </a:lnSpc>
              <a:buNone/>
            </a:pPr>
            <a:r>
              <a:rPr lang="en-US" sz="950" dirty="0">
                <a:solidFill>
                  <a:srgbClr val="FFFFFF"/>
                </a:solidFill>
                <a:latin typeface="Calibri" pitchFamily="34" charset="0"/>
                <a:ea typeface="Calibri" pitchFamily="34" charset="-122"/>
                <a:cs typeface="Calibri" pitchFamily="34" charset="-120"/>
              </a:rPr>
              <a:t>With 25% tariffs on AI chips and 97% geopolitical threat ratings on trade volatility, deploy agentic AI to simulate tariff exposure across IKEA's full bill of materials, dynamically re-route inventory, and qualify alternative suppliers in real time.</a:t>
            </a:r>
            <a:endParaRPr lang="en-US" sz="950" dirty="0"/>
          </a:p>
        </p:txBody>
      </p:sp>
      <p:sp>
        <p:nvSpPr>
          <p:cNvPr id="19" name="Shape 17"/>
          <p:cNvSpPr/>
          <p:nvPr/>
        </p:nvSpPr>
        <p:spPr>
          <a:xfrm>
            <a:off x="4828032" y="2651760"/>
            <a:ext cx="4251960" cy="1371600"/>
          </a:xfrm>
          <a:prstGeom prst="rect">
            <a:avLst/>
          </a:prstGeom>
          <a:solidFill>
            <a:srgbClr val="FFFFFF">
              <a:alpha val="10000"/>
            </a:srgbClr>
          </a:solidFill>
          <a:ln w="10160">
            <a:solidFill>
              <a:srgbClr val="FFDA00">
                <a:alpha val="60000"/>
              </a:srgbClr>
            </a:solidFill>
            <a:prstDash val="solid"/>
          </a:ln>
        </p:spPr>
      </p:sp>
      <p:sp>
        <p:nvSpPr>
          <p:cNvPr id="20" name="Shape 18"/>
          <p:cNvSpPr/>
          <p:nvPr/>
        </p:nvSpPr>
        <p:spPr>
          <a:xfrm>
            <a:off x="4828032" y="2651760"/>
            <a:ext cx="50292" cy="1371600"/>
          </a:xfrm>
          <a:prstGeom prst="rect">
            <a:avLst/>
          </a:prstGeom>
          <a:solidFill>
            <a:srgbClr val="FFDA00"/>
          </a:solidFill>
          <a:ln w="12700">
            <a:solidFill>
              <a:srgbClr val="FFDA00"/>
            </a:solidFill>
            <a:prstDash val="solid"/>
          </a:ln>
        </p:spPr>
      </p:sp>
      <p:sp>
        <p:nvSpPr>
          <p:cNvPr id="21" name="Text 19"/>
          <p:cNvSpPr/>
          <p:nvPr/>
        </p:nvSpPr>
        <p:spPr>
          <a:xfrm>
            <a:off x="4992624" y="2743200"/>
            <a:ext cx="3995928" cy="329184"/>
          </a:xfrm>
          <a:prstGeom prst="rect">
            <a:avLst/>
          </a:prstGeom>
          <a:noFill/>
          <a:ln/>
        </p:spPr>
        <p:txBody>
          <a:bodyPr wrap="square" lIns="0" tIns="0" rIns="0" bIns="0" rtlCol="0" anchor="ctr"/>
          <a:lstStyle/>
          <a:p>
            <a:pPr algn="l" indent="0" marL="0">
              <a:buNone/>
            </a:pPr>
            <a:r>
              <a:rPr lang="en-US" sz="1100" b="1" dirty="0">
                <a:solidFill>
                  <a:srgbClr val="FFDA00"/>
                </a:solidFill>
                <a:latin typeface="Trebuchet MS" pitchFamily="34" charset="0"/>
                <a:ea typeface="Trebuchet MS" pitchFamily="34" charset="-122"/>
                <a:cs typeface="Trebuchet MS" pitchFamily="34" charset="-120"/>
              </a:rPr>
              <a:t>04  Pilot AI-Powered Live Commerce for Home Styling</a:t>
            </a:r>
            <a:endParaRPr lang="en-US" sz="1100" dirty="0"/>
          </a:p>
        </p:txBody>
      </p:sp>
      <p:sp>
        <p:nvSpPr>
          <p:cNvPr id="22" name="Text 20"/>
          <p:cNvSpPr/>
          <p:nvPr/>
        </p:nvSpPr>
        <p:spPr>
          <a:xfrm>
            <a:off x="4992624" y="3108960"/>
            <a:ext cx="3995928" cy="804672"/>
          </a:xfrm>
          <a:prstGeom prst="rect">
            <a:avLst/>
          </a:prstGeom>
          <a:noFill/>
          <a:ln/>
        </p:spPr>
        <p:txBody>
          <a:bodyPr wrap="square" lIns="0" tIns="0" rIns="0" bIns="0" rtlCol="0" anchor="ctr"/>
          <a:lstStyle/>
          <a:p>
            <a:pPr indent="0" marL="0">
              <a:lnSpc>
                <a:spcPct val="125000"/>
              </a:lnSpc>
              <a:buNone/>
            </a:pPr>
            <a:r>
              <a:rPr lang="en-US" sz="950" dirty="0">
                <a:solidFill>
                  <a:srgbClr val="FFFFFF"/>
                </a:solidFill>
                <a:latin typeface="Calibri" pitchFamily="34" charset="0"/>
                <a:ea typeface="Calibri" pitchFamily="34" charset="-122"/>
                <a:cs typeface="Calibri" pitchFamily="34" charset="-120"/>
              </a:rPr>
              <a:t>Use JD's digital human platform model (90% cost reduction in livestreaming) to pilot AI-assisted home styling livestreams on Douyin (China) and TikTok Shop (Europe), with room config demos and real-time purchase links.</a:t>
            </a:r>
            <a:endParaRPr lang="en-US" sz="950" dirty="0"/>
          </a:p>
        </p:txBody>
      </p:sp>
      <p:sp>
        <p:nvSpPr>
          <p:cNvPr id="23" name="Shape 21"/>
          <p:cNvSpPr/>
          <p:nvPr/>
        </p:nvSpPr>
        <p:spPr>
          <a:xfrm>
            <a:off x="2331720" y="4187952"/>
            <a:ext cx="4572000" cy="1371600"/>
          </a:xfrm>
          <a:prstGeom prst="rect">
            <a:avLst/>
          </a:prstGeom>
          <a:solidFill>
            <a:srgbClr val="FFFFFF">
              <a:alpha val="10000"/>
            </a:srgbClr>
          </a:solidFill>
          <a:ln w="10160">
            <a:solidFill>
              <a:srgbClr val="FFDA00">
                <a:alpha val="60000"/>
              </a:srgbClr>
            </a:solidFill>
            <a:prstDash val="solid"/>
          </a:ln>
        </p:spPr>
      </p:sp>
      <p:sp>
        <p:nvSpPr>
          <p:cNvPr id="24" name="Shape 22"/>
          <p:cNvSpPr/>
          <p:nvPr/>
        </p:nvSpPr>
        <p:spPr>
          <a:xfrm>
            <a:off x="2331720" y="4187952"/>
            <a:ext cx="50292" cy="1371600"/>
          </a:xfrm>
          <a:prstGeom prst="rect">
            <a:avLst/>
          </a:prstGeom>
          <a:solidFill>
            <a:srgbClr val="FFDA00"/>
          </a:solidFill>
          <a:ln w="12700">
            <a:solidFill>
              <a:srgbClr val="FFDA00"/>
            </a:solidFill>
            <a:prstDash val="solid"/>
          </a:ln>
        </p:spPr>
      </p:sp>
      <p:sp>
        <p:nvSpPr>
          <p:cNvPr id="25" name="Text 23"/>
          <p:cNvSpPr/>
          <p:nvPr/>
        </p:nvSpPr>
        <p:spPr>
          <a:xfrm>
            <a:off x="2496312" y="4279392"/>
            <a:ext cx="4315968" cy="329184"/>
          </a:xfrm>
          <a:prstGeom prst="rect">
            <a:avLst/>
          </a:prstGeom>
          <a:noFill/>
          <a:ln/>
        </p:spPr>
        <p:txBody>
          <a:bodyPr wrap="square" lIns="0" tIns="0" rIns="0" bIns="0" rtlCol="0" anchor="ctr"/>
          <a:lstStyle/>
          <a:p>
            <a:pPr algn="l" indent="0" marL="0">
              <a:buNone/>
            </a:pPr>
            <a:r>
              <a:rPr lang="en-US" sz="1100" b="1" dirty="0">
                <a:solidFill>
                  <a:srgbClr val="FFDA00"/>
                </a:solidFill>
                <a:latin typeface="Trebuchet MS" pitchFamily="34" charset="0"/>
                <a:ea typeface="Trebuchet MS" pitchFamily="34" charset="-122"/>
                <a:cs typeface="Trebuchet MS" pitchFamily="34" charset="-120"/>
              </a:rPr>
              <a:t>05  Invest in AI Talent Proportionate to Technology Spend</a:t>
            </a:r>
            <a:endParaRPr lang="en-US" sz="1100" dirty="0"/>
          </a:p>
        </p:txBody>
      </p:sp>
      <p:sp>
        <p:nvSpPr>
          <p:cNvPr id="26" name="Text 24"/>
          <p:cNvSpPr/>
          <p:nvPr/>
        </p:nvSpPr>
        <p:spPr>
          <a:xfrm>
            <a:off x="2496312" y="4645152"/>
            <a:ext cx="4315968" cy="804672"/>
          </a:xfrm>
          <a:prstGeom prst="rect">
            <a:avLst/>
          </a:prstGeom>
          <a:noFill/>
          <a:ln/>
        </p:spPr>
        <p:txBody>
          <a:bodyPr wrap="square" lIns="0" tIns="0" rIns="0" bIns="0" rtlCol="0" anchor="ctr"/>
          <a:lstStyle/>
          <a:p>
            <a:pPr indent="0" marL="0">
              <a:lnSpc>
                <a:spcPct val="125000"/>
              </a:lnSpc>
              <a:buNone/>
            </a:pPr>
            <a:r>
              <a:rPr lang="en-US" sz="950" dirty="0">
                <a:solidFill>
                  <a:srgbClr val="FFFFFF"/>
                </a:solidFill>
                <a:latin typeface="Calibri" pitchFamily="34" charset="0"/>
                <a:ea typeface="Calibri" pitchFamily="34" charset="-122"/>
                <a:cs typeface="Calibri" pitchFamily="34" charset="-120"/>
              </a:rPr>
              <a:t>51% of supply chain leaders cite data accuracy as the biggest AI barrier. Establish an IKEA AI Fluency Programme for store managers and supply chain teams — without AI-literate people, technology investment will underdeliver.</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3087"/>
          </a:solidFill>
          <a:ln w="12700">
            <a:solidFill>
              <a:srgbClr val="003087"/>
            </a:solidFill>
            <a:prstDash val="solid"/>
          </a:ln>
        </p:spPr>
      </p:sp>
      <p:sp>
        <p:nvSpPr>
          <p:cNvPr id="3" name="Shape 1"/>
          <p:cNvSpPr/>
          <p:nvPr/>
        </p:nvSpPr>
        <p:spPr>
          <a:xfrm>
            <a:off x="8046720" y="164592"/>
            <a:ext cx="822960" cy="329184"/>
          </a:xfrm>
          <a:prstGeom prst="rect">
            <a:avLst/>
          </a:prstGeom>
          <a:solidFill>
            <a:srgbClr val="FFDA00"/>
          </a:solidFill>
          <a:ln w="12700">
            <a:solidFill>
              <a:srgbClr val="FFDA00"/>
            </a:solidFill>
            <a:prstDash val="solid"/>
          </a:ln>
        </p:spPr>
      </p:sp>
      <p:sp>
        <p:nvSpPr>
          <p:cNvPr id="4" name="Text 2"/>
          <p:cNvSpPr/>
          <p:nvPr/>
        </p:nvSpPr>
        <p:spPr>
          <a:xfrm>
            <a:off x="8046720" y="164592"/>
            <a:ext cx="822960" cy="329184"/>
          </a:xfrm>
          <a:prstGeom prst="rect">
            <a:avLst/>
          </a:prstGeom>
          <a:noFill/>
          <a:ln/>
        </p:spPr>
        <p:txBody>
          <a:bodyPr wrap="square" lIns="0" tIns="0" rIns="0" bIns="0" rtlCol="0" anchor="ctr"/>
          <a:lstStyle/>
          <a:p>
            <a:pPr algn="ctr" indent="0" marL="0">
              <a:buNone/>
            </a:pPr>
            <a:r>
              <a:rPr lang="en-US" sz="1400" b="1" dirty="0">
                <a:solidFill>
                  <a:srgbClr val="003087"/>
                </a:solidFill>
                <a:latin typeface="Trebuchet MS" pitchFamily="34" charset="0"/>
                <a:ea typeface="Trebuchet MS" pitchFamily="34" charset="-122"/>
                <a:cs typeface="Trebuchet MS" pitchFamily="34" charset="-120"/>
              </a:rPr>
              <a:t>IKEA</a:t>
            </a:r>
            <a:endParaRPr lang="en-US" sz="1400" dirty="0"/>
          </a:p>
        </p:txBody>
      </p:sp>
      <p:sp>
        <p:nvSpPr>
          <p:cNvPr id="5" name="Text 3"/>
          <p:cNvSpPr/>
          <p:nvPr/>
        </p:nvSpPr>
        <p:spPr>
          <a:xfrm>
            <a:off x="502920" y="182880"/>
            <a:ext cx="7315200" cy="502920"/>
          </a:xfrm>
          <a:prstGeom prst="rect">
            <a:avLst/>
          </a:prstGeom>
          <a:noFill/>
          <a:ln/>
        </p:spPr>
        <p:txBody>
          <a:bodyPr wrap="square" lIns="0" tIns="0" rIns="0" bIns="0" rtlCol="0" anchor="ctr"/>
          <a:lstStyle/>
          <a:p>
            <a:pPr algn="l" indent="0" marL="0">
              <a:buNone/>
            </a:pPr>
            <a:r>
              <a:rPr lang="en-US" sz="2600" b="1" dirty="0">
                <a:solidFill>
                  <a:srgbClr val="111827"/>
                </a:solidFill>
                <a:latin typeface="Trebuchet MS" pitchFamily="34" charset="0"/>
                <a:ea typeface="Trebuchet MS" pitchFamily="34" charset="-122"/>
                <a:cs typeface="Trebuchet MS" pitchFamily="34" charset="-120"/>
              </a:rPr>
              <a:t>Risks &amp; Observations</a:t>
            </a:r>
            <a:endParaRPr lang="en-US" sz="2600" dirty="0"/>
          </a:p>
        </p:txBody>
      </p:sp>
      <p:sp>
        <p:nvSpPr>
          <p:cNvPr id="6" name="Shape 4"/>
          <p:cNvSpPr/>
          <p:nvPr/>
        </p:nvSpPr>
        <p:spPr>
          <a:xfrm>
            <a:off x="411480" y="822960"/>
            <a:ext cx="8321040" cy="822960"/>
          </a:xfrm>
          <a:prstGeom prst="rect">
            <a:avLst/>
          </a:prstGeom>
          <a:solidFill>
            <a:srgbClr val="FFFFFF"/>
          </a:solidFill>
          <a:ln w="6350">
            <a:solidFill>
              <a:srgbClr val="CBD5E1"/>
            </a:solidFill>
            <a:prstDash val="solid"/>
          </a:ln>
          <a:effectLst>
            <a:outerShdw sx="100000" sy="100000" kx="0" ky="0" algn="bl" rotWithShape="0" blurRad="101600" dist="25400" dir="8100000">
              <a:srgbClr val="000000">
                <a:alpha val="10000"/>
              </a:srgbClr>
            </a:outerShdw>
          </a:effectLst>
        </p:spPr>
      </p:sp>
      <p:sp>
        <p:nvSpPr>
          <p:cNvPr id="7" name="Shape 5"/>
          <p:cNvSpPr/>
          <p:nvPr/>
        </p:nvSpPr>
        <p:spPr>
          <a:xfrm>
            <a:off x="411480" y="822960"/>
            <a:ext cx="54864" cy="822960"/>
          </a:xfrm>
          <a:prstGeom prst="rect">
            <a:avLst/>
          </a:prstGeom>
          <a:solidFill>
            <a:srgbClr val="DC2626"/>
          </a:solidFill>
          <a:ln w="12700">
            <a:solidFill>
              <a:srgbClr val="DC2626"/>
            </a:solidFill>
            <a:prstDash val="solid"/>
          </a:ln>
        </p:spPr>
      </p:sp>
      <p:sp>
        <p:nvSpPr>
          <p:cNvPr id="8" name="Shape 6"/>
          <p:cNvSpPr/>
          <p:nvPr/>
        </p:nvSpPr>
        <p:spPr>
          <a:xfrm>
            <a:off x="7772400" y="896112"/>
            <a:ext cx="914400" cy="237744"/>
          </a:xfrm>
          <a:prstGeom prst="rect">
            <a:avLst/>
          </a:prstGeom>
          <a:solidFill>
            <a:srgbClr val="DC2626"/>
          </a:solidFill>
          <a:ln w="12700">
            <a:solidFill>
              <a:srgbClr val="DC2626"/>
            </a:solidFill>
            <a:prstDash val="solid"/>
          </a:ln>
        </p:spPr>
      </p:sp>
      <p:sp>
        <p:nvSpPr>
          <p:cNvPr id="9" name="Text 7"/>
          <p:cNvSpPr/>
          <p:nvPr/>
        </p:nvSpPr>
        <p:spPr>
          <a:xfrm>
            <a:off x="7772400" y="905256"/>
            <a:ext cx="914400"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Trebuchet MS" pitchFamily="34" charset="0"/>
                <a:ea typeface="Trebuchet MS" pitchFamily="34" charset="-122"/>
                <a:cs typeface="Trebuchet MS" pitchFamily="34" charset="-120"/>
              </a:rPr>
              <a:t>HIGH</a:t>
            </a:r>
            <a:endParaRPr lang="en-US" sz="800" dirty="0"/>
          </a:p>
        </p:txBody>
      </p:sp>
      <p:sp>
        <p:nvSpPr>
          <p:cNvPr id="10" name="Text 8"/>
          <p:cNvSpPr/>
          <p:nvPr/>
        </p:nvSpPr>
        <p:spPr>
          <a:xfrm>
            <a:off x="594360" y="896112"/>
            <a:ext cx="7040880" cy="256032"/>
          </a:xfrm>
          <a:prstGeom prst="rect">
            <a:avLst/>
          </a:prstGeom>
          <a:noFill/>
          <a:ln/>
        </p:spPr>
        <p:txBody>
          <a:bodyPr wrap="square" lIns="0" tIns="0" rIns="0" bIns="0" rtlCol="0" anchor="ctr"/>
          <a:lstStyle/>
          <a:p>
            <a:pPr algn="l" indent="0" marL="0">
              <a:buNone/>
            </a:pPr>
            <a:r>
              <a:rPr lang="en-US" sz="1150" b="1" dirty="0">
                <a:solidFill>
                  <a:srgbClr val="111827"/>
                </a:solidFill>
                <a:latin typeface="Trebuchet MS" pitchFamily="34" charset="0"/>
                <a:ea typeface="Trebuchet MS" pitchFamily="34" charset="-122"/>
                <a:cs typeface="Trebuchet MS" pitchFamily="34" charset="-120"/>
              </a:rPr>
              <a:t>US Tariff Escalation on AI Hardware</a:t>
            </a:r>
            <a:endParaRPr lang="en-US" sz="1150" dirty="0"/>
          </a:p>
        </p:txBody>
      </p:sp>
      <p:sp>
        <p:nvSpPr>
          <p:cNvPr id="11" name="Text 9"/>
          <p:cNvSpPr/>
          <p:nvPr/>
        </p:nvSpPr>
        <p:spPr>
          <a:xfrm>
            <a:off x="594360" y="1207008"/>
            <a:ext cx="7863840" cy="365760"/>
          </a:xfrm>
          <a:prstGeom prst="rect">
            <a:avLst/>
          </a:prstGeom>
          <a:noFill/>
          <a:ln/>
        </p:spPr>
        <p:txBody>
          <a:bodyPr wrap="square" lIns="0" tIns="0" rIns="0" bIns="0" rtlCol="0" anchor="ctr"/>
          <a:lstStyle/>
          <a:p>
            <a:pPr algn="l" indent="0" marL="0">
              <a:buNone/>
            </a:pPr>
            <a:r>
              <a:rPr lang="en-US" sz="950" dirty="0">
                <a:solidFill>
                  <a:srgbClr val="64748B"/>
                </a:solidFill>
                <a:latin typeface="Calibri" pitchFamily="34" charset="0"/>
                <a:ea typeface="Calibri" pitchFamily="34" charset="-122"/>
                <a:cs typeface="Calibri" pitchFamily="34" charset="-120"/>
              </a:rPr>
              <a:t>25% tariff on AI chip imports (early April 2026) increases hardware costs for all automation programmes. Review IKEA AI procurement for tariff exposure; identify European and alternative-source suppliers for GPUs and edge compute devices.</a:t>
            </a:r>
            <a:endParaRPr lang="en-US" sz="950" dirty="0"/>
          </a:p>
        </p:txBody>
      </p:sp>
      <p:sp>
        <p:nvSpPr>
          <p:cNvPr id="12" name="Shape 10"/>
          <p:cNvSpPr/>
          <p:nvPr/>
        </p:nvSpPr>
        <p:spPr>
          <a:xfrm>
            <a:off x="411480" y="1792224"/>
            <a:ext cx="8321040" cy="822960"/>
          </a:xfrm>
          <a:prstGeom prst="rect">
            <a:avLst/>
          </a:prstGeom>
          <a:solidFill>
            <a:srgbClr val="FFFFFF"/>
          </a:solidFill>
          <a:ln w="6350">
            <a:solidFill>
              <a:srgbClr val="CBD5E1"/>
            </a:solidFill>
            <a:prstDash val="solid"/>
          </a:ln>
          <a:effectLst>
            <a:outerShdw sx="100000" sy="100000" kx="0" ky="0" algn="bl" rotWithShape="0" blurRad="101600" dist="25400" dir="8100000">
              <a:srgbClr val="000000">
                <a:alpha val="10000"/>
              </a:srgbClr>
            </a:outerShdw>
          </a:effectLst>
        </p:spPr>
      </p:sp>
      <p:sp>
        <p:nvSpPr>
          <p:cNvPr id="13" name="Shape 11"/>
          <p:cNvSpPr/>
          <p:nvPr/>
        </p:nvSpPr>
        <p:spPr>
          <a:xfrm>
            <a:off x="411480" y="1792224"/>
            <a:ext cx="54864" cy="822960"/>
          </a:xfrm>
          <a:prstGeom prst="rect">
            <a:avLst/>
          </a:prstGeom>
          <a:solidFill>
            <a:srgbClr val="D97706"/>
          </a:solidFill>
          <a:ln w="12700">
            <a:solidFill>
              <a:srgbClr val="D97706"/>
            </a:solidFill>
            <a:prstDash val="solid"/>
          </a:ln>
        </p:spPr>
      </p:sp>
      <p:sp>
        <p:nvSpPr>
          <p:cNvPr id="14" name="Shape 12"/>
          <p:cNvSpPr/>
          <p:nvPr/>
        </p:nvSpPr>
        <p:spPr>
          <a:xfrm>
            <a:off x="7772400" y="1865376"/>
            <a:ext cx="914400" cy="237744"/>
          </a:xfrm>
          <a:prstGeom prst="rect">
            <a:avLst/>
          </a:prstGeom>
          <a:solidFill>
            <a:srgbClr val="D97706"/>
          </a:solidFill>
          <a:ln w="12700">
            <a:solidFill>
              <a:srgbClr val="D97706"/>
            </a:solidFill>
            <a:prstDash val="solid"/>
          </a:ln>
        </p:spPr>
      </p:sp>
      <p:sp>
        <p:nvSpPr>
          <p:cNvPr id="15" name="Text 13"/>
          <p:cNvSpPr/>
          <p:nvPr/>
        </p:nvSpPr>
        <p:spPr>
          <a:xfrm>
            <a:off x="7772400" y="1874520"/>
            <a:ext cx="914400"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Trebuchet MS" pitchFamily="34" charset="0"/>
                <a:ea typeface="Trebuchet MS" pitchFamily="34" charset="-122"/>
                <a:cs typeface="Trebuchet MS" pitchFamily="34" charset="-120"/>
              </a:rPr>
              <a:t>MEDIUM</a:t>
            </a:r>
            <a:endParaRPr lang="en-US" sz="800" dirty="0"/>
          </a:p>
        </p:txBody>
      </p:sp>
      <p:sp>
        <p:nvSpPr>
          <p:cNvPr id="16" name="Text 14"/>
          <p:cNvSpPr/>
          <p:nvPr/>
        </p:nvSpPr>
        <p:spPr>
          <a:xfrm>
            <a:off x="594360" y="1865376"/>
            <a:ext cx="7040880" cy="256032"/>
          </a:xfrm>
          <a:prstGeom prst="rect">
            <a:avLst/>
          </a:prstGeom>
          <a:noFill/>
          <a:ln/>
        </p:spPr>
        <p:txBody>
          <a:bodyPr wrap="square" lIns="0" tIns="0" rIns="0" bIns="0" rtlCol="0" anchor="ctr"/>
          <a:lstStyle/>
          <a:p>
            <a:pPr algn="l" indent="0" marL="0">
              <a:buNone/>
            </a:pPr>
            <a:r>
              <a:rPr lang="en-US" sz="1150" b="1" dirty="0">
                <a:solidFill>
                  <a:srgbClr val="111827"/>
                </a:solidFill>
                <a:latin typeface="Trebuchet MS" pitchFamily="34" charset="0"/>
                <a:ea typeface="Trebuchet MS" pitchFamily="34" charset="-122"/>
                <a:cs typeface="Trebuchet MS" pitchFamily="34" charset="-120"/>
              </a:rPr>
              <a:t>AI Investment Outpacing Data Infrastructure Readiness</a:t>
            </a:r>
            <a:endParaRPr lang="en-US" sz="1150" dirty="0"/>
          </a:p>
        </p:txBody>
      </p:sp>
      <p:sp>
        <p:nvSpPr>
          <p:cNvPr id="17" name="Text 15"/>
          <p:cNvSpPr/>
          <p:nvPr/>
        </p:nvSpPr>
        <p:spPr>
          <a:xfrm>
            <a:off x="594360" y="2176272"/>
            <a:ext cx="7863840" cy="365760"/>
          </a:xfrm>
          <a:prstGeom prst="rect">
            <a:avLst/>
          </a:prstGeom>
          <a:noFill/>
          <a:ln/>
        </p:spPr>
        <p:txBody>
          <a:bodyPr wrap="square" lIns="0" tIns="0" rIns="0" bIns="0" rtlCol="0" anchor="ctr"/>
          <a:lstStyle/>
          <a:p>
            <a:pPr algn="l" indent="0" marL="0">
              <a:buNone/>
            </a:pPr>
            <a:r>
              <a:rPr lang="en-US" sz="950" dirty="0">
                <a:solidFill>
                  <a:srgbClr val="64748B"/>
                </a:solidFill>
                <a:latin typeface="Calibri" pitchFamily="34" charset="0"/>
                <a:ea typeface="Calibri" pitchFamily="34" charset="-122"/>
                <a:cs typeface="Calibri" pitchFamily="34" charset="-120"/>
              </a:rPr>
              <a:t>51% of supply chain leaders cite data accuracy as the biggest AI barrier; only 42% have real-time visibility. IKEA's 450+ stores and multi-country manufacturing may face the same constraint. Conduct a data readiness audit before agentic AI deployment.</a:t>
            </a:r>
            <a:endParaRPr lang="en-US" sz="950" dirty="0"/>
          </a:p>
        </p:txBody>
      </p:sp>
      <p:sp>
        <p:nvSpPr>
          <p:cNvPr id="18" name="Shape 16"/>
          <p:cNvSpPr/>
          <p:nvPr/>
        </p:nvSpPr>
        <p:spPr>
          <a:xfrm>
            <a:off x="411480" y="2761488"/>
            <a:ext cx="8321040" cy="822960"/>
          </a:xfrm>
          <a:prstGeom prst="rect">
            <a:avLst/>
          </a:prstGeom>
          <a:solidFill>
            <a:srgbClr val="FFFFFF"/>
          </a:solidFill>
          <a:ln w="6350">
            <a:solidFill>
              <a:srgbClr val="CBD5E1"/>
            </a:solidFill>
            <a:prstDash val="solid"/>
          </a:ln>
          <a:effectLst>
            <a:outerShdw sx="100000" sy="100000" kx="0" ky="0" algn="bl" rotWithShape="0" blurRad="101600" dist="25400" dir="8100000">
              <a:srgbClr val="000000">
                <a:alpha val="10000"/>
              </a:srgbClr>
            </a:outerShdw>
          </a:effectLst>
        </p:spPr>
      </p:sp>
      <p:sp>
        <p:nvSpPr>
          <p:cNvPr id="19" name="Shape 17"/>
          <p:cNvSpPr/>
          <p:nvPr/>
        </p:nvSpPr>
        <p:spPr>
          <a:xfrm>
            <a:off x="411480" y="2761488"/>
            <a:ext cx="54864" cy="822960"/>
          </a:xfrm>
          <a:prstGeom prst="rect">
            <a:avLst/>
          </a:prstGeom>
          <a:solidFill>
            <a:srgbClr val="0D9488"/>
          </a:solidFill>
          <a:ln w="12700">
            <a:solidFill>
              <a:srgbClr val="0D9488"/>
            </a:solidFill>
            <a:prstDash val="solid"/>
          </a:ln>
        </p:spPr>
      </p:sp>
      <p:sp>
        <p:nvSpPr>
          <p:cNvPr id="20" name="Shape 18"/>
          <p:cNvSpPr/>
          <p:nvPr/>
        </p:nvSpPr>
        <p:spPr>
          <a:xfrm>
            <a:off x="7772400" y="2834640"/>
            <a:ext cx="914400" cy="237744"/>
          </a:xfrm>
          <a:prstGeom prst="rect">
            <a:avLst/>
          </a:prstGeom>
          <a:solidFill>
            <a:srgbClr val="0D9488"/>
          </a:solidFill>
          <a:ln w="12700">
            <a:solidFill>
              <a:srgbClr val="0D9488"/>
            </a:solidFill>
            <a:prstDash val="solid"/>
          </a:ln>
        </p:spPr>
      </p:sp>
      <p:sp>
        <p:nvSpPr>
          <p:cNvPr id="21" name="Text 19"/>
          <p:cNvSpPr/>
          <p:nvPr/>
        </p:nvSpPr>
        <p:spPr>
          <a:xfrm>
            <a:off x="7772400" y="2843784"/>
            <a:ext cx="914400"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Trebuchet MS" pitchFamily="34" charset="0"/>
                <a:ea typeface="Trebuchet MS" pitchFamily="34" charset="-122"/>
                <a:cs typeface="Trebuchet MS" pitchFamily="34" charset="-120"/>
              </a:rPr>
              <a:t>WATCH</a:t>
            </a:r>
            <a:endParaRPr lang="en-US" sz="800" dirty="0"/>
          </a:p>
        </p:txBody>
      </p:sp>
      <p:sp>
        <p:nvSpPr>
          <p:cNvPr id="22" name="Text 20"/>
          <p:cNvSpPr/>
          <p:nvPr/>
        </p:nvSpPr>
        <p:spPr>
          <a:xfrm>
            <a:off x="594360" y="2834640"/>
            <a:ext cx="7040880" cy="256032"/>
          </a:xfrm>
          <a:prstGeom prst="rect">
            <a:avLst/>
          </a:prstGeom>
          <a:noFill/>
          <a:ln/>
        </p:spPr>
        <p:txBody>
          <a:bodyPr wrap="square" lIns="0" tIns="0" rIns="0" bIns="0" rtlCol="0" anchor="ctr"/>
          <a:lstStyle/>
          <a:p>
            <a:pPr algn="l" indent="0" marL="0">
              <a:buNone/>
            </a:pPr>
            <a:r>
              <a:rPr lang="en-US" sz="1150" b="1" dirty="0">
                <a:solidFill>
                  <a:srgbClr val="111827"/>
                </a:solidFill>
                <a:latin typeface="Trebuchet MS" pitchFamily="34" charset="0"/>
                <a:ea typeface="Trebuchet MS" pitchFamily="34" charset="-122"/>
                <a:cs typeface="Trebuchet MS" pitchFamily="34" charset="-120"/>
              </a:rPr>
              <a:t>TikTok/ByteDance Regulatory &amp; Governance Uncertainty</a:t>
            </a:r>
            <a:endParaRPr lang="en-US" sz="1150" dirty="0"/>
          </a:p>
        </p:txBody>
      </p:sp>
      <p:sp>
        <p:nvSpPr>
          <p:cNvPr id="23" name="Text 21"/>
          <p:cNvSpPr/>
          <p:nvPr/>
        </p:nvSpPr>
        <p:spPr>
          <a:xfrm>
            <a:off x="594360" y="3145536"/>
            <a:ext cx="7863840" cy="365760"/>
          </a:xfrm>
          <a:prstGeom prst="rect">
            <a:avLst/>
          </a:prstGeom>
          <a:noFill/>
          <a:ln/>
        </p:spPr>
        <p:txBody>
          <a:bodyPr wrap="square" lIns="0" tIns="0" rIns="0" bIns="0" rtlCol="0" anchor="ctr"/>
          <a:lstStyle/>
          <a:p>
            <a:pPr algn="l" indent="0" marL="0">
              <a:buNone/>
            </a:pPr>
            <a:r>
              <a:rPr lang="en-US" sz="950" dirty="0">
                <a:solidFill>
                  <a:srgbClr val="64748B"/>
                </a:solidFill>
                <a:latin typeface="Calibri" pitchFamily="34" charset="0"/>
                <a:ea typeface="Calibri" pitchFamily="34" charset="-122"/>
                <a:cs typeface="Calibri" pitchFamily="34" charset="-120"/>
              </a:rPr>
              <a:t>TikTok is centralising under Beijing leadership amid US ownership talks; EU DSA probes ongoing with $1B+ reserved for fines. Maintain channel diversity for IKEA live commerce — do not over-index on TikTok Shop revenue.</a:t>
            </a:r>
            <a:endParaRPr lang="en-US" sz="950" dirty="0"/>
          </a:p>
        </p:txBody>
      </p:sp>
      <p:sp>
        <p:nvSpPr>
          <p:cNvPr id="24" name="Shape 22"/>
          <p:cNvSpPr/>
          <p:nvPr/>
        </p:nvSpPr>
        <p:spPr>
          <a:xfrm>
            <a:off x="411480" y="3730752"/>
            <a:ext cx="8321040" cy="822960"/>
          </a:xfrm>
          <a:prstGeom prst="rect">
            <a:avLst/>
          </a:prstGeom>
          <a:solidFill>
            <a:srgbClr val="FFFFFF"/>
          </a:solidFill>
          <a:ln w="6350">
            <a:solidFill>
              <a:srgbClr val="CBD5E1"/>
            </a:solidFill>
            <a:prstDash val="solid"/>
          </a:ln>
          <a:effectLst>
            <a:outerShdw sx="100000" sy="100000" kx="0" ky="0" algn="bl" rotWithShape="0" blurRad="101600" dist="25400" dir="8100000">
              <a:srgbClr val="000000">
                <a:alpha val="10000"/>
              </a:srgbClr>
            </a:outerShdw>
          </a:effectLst>
        </p:spPr>
      </p:sp>
      <p:sp>
        <p:nvSpPr>
          <p:cNvPr id="25" name="Shape 23"/>
          <p:cNvSpPr/>
          <p:nvPr/>
        </p:nvSpPr>
        <p:spPr>
          <a:xfrm>
            <a:off x="411480" y="3730752"/>
            <a:ext cx="54864" cy="822960"/>
          </a:xfrm>
          <a:prstGeom prst="rect">
            <a:avLst/>
          </a:prstGeom>
          <a:solidFill>
            <a:srgbClr val="D97706"/>
          </a:solidFill>
          <a:ln w="12700">
            <a:solidFill>
              <a:srgbClr val="D97706"/>
            </a:solidFill>
            <a:prstDash val="solid"/>
          </a:ln>
        </p:spPr>
      </p:sp>
      <p:sp>
        <p:nvSpPr>
          <p:cNvPr id="26" name="Shape 24"/>
          <p:cNvSpPr/>
          <p:nvPr/>
        </p:nvSpPr>
        <p:spPr>
          <a:xfrm>
            <a:off x="7772400" y="3803904"/>
            <a:ext cx="914400" cy="237744"/>
          </a:xfrm>
          <a:prstGeom prst="rect">
            <a:avLst/>
          </a:prstGeom>
          <a:solidFill>
            <a:srgbClr val="D97706"/>
          </a:solidFill>
          <a:ln w="12700">
            <a:solidFill>
              <a:srgbClr val="D97706"/>
            </a:solidFill>
            <a:prstDash val="solid"/>
          </a:ln>
        </p:spPr>
      </p:sp>
      <p:sp>
        <p:nvSpPr>
          <p:cNvPr id="27" name="Text 25"/>
          <p:cNvSpPr/>
          <p:nvPr/>
        </p:nvSpPr>
        <p:spPr>
          <a:xfrm>
            <a:off x="7772400" y="3813048"/>
            <a:ext cx="914400" cy="219456"/>
          </a:xfrm>
          <a:prstGeom prst="rect">
            <a:avLst/>
          </a:prstGeom>
          <a:noFill/>
          <a:ln/>
        </p:spPr>
        <p:txBody>
          <a:bodyPr wrap="square" lIns="0" tIns="0" rIns="0" bIns="0" rtlCol="0" anchor="ctr"/>
          <a:lstStyle/>
          <a:p>
            <a:pPr algn="ctr" indent="0" marL="0">
              <a:buNone/>
            </a:pPr>
            <a:r>
              <a:rPr lang="en-US" sz="800" b="1" dirty="0">
                <a:solidFill>
                  <a:srgbClr val="FFFFFF"/>
                </a:solidFill>
                <a:latin typeface="Trebuchet MS" pitchFamily="34" charset="0"/>
                <a:ea typeface="Trebuchet MS" pitchFamily="34" charset="-122"/>
                <a:cs typeface="Trebuchet MS" pitchFamily="34" charset="-120"/>
              </a:rPr>
              <a:t>MEDIUM</a:t>
            </a:r>
            <a:endParaRPr lang="en-US" sz="800" dirty="0"/>
          </a:p>
        </p:txBody>
      </p:sp>
      <p:sp>
        <p:nvSpPr>
          <p:cNvPr id="28" name="Text 26"/>
          <p:cNvSpPr/>
          <p:nvPr/>
        </p:nvSpPr>
        <p:spPr>
          <a:xfrm>
            <a:off x="594360" y="3803904"/>
            <a:ext cx="7040880" cy="256032"/>
          </a:xfrm>
          <a:prstGeom prst="rect">
            <a:avLst/>
          </a:prstGeom>
          <a:noFill/>
          <a:ln/>
        </p:spPr>
        <p:txBody>
          <a:bodyPr wrap="square" lIns="0" tIns="0" rIns="0" bIns="0" rtlCol="0" anchor="ctr"/>
          <a:lstStyle/>
          <a:p>
            <a:pPr algn="l" indent="0" marL="0">
              <a:buNone/>
            </a:pPr>
            <a:r>
              <a:rPr lang="en-US" sz="1150" b="1" dirty="0">
                <a:solidFill>
                  <a:srgbClr val="111827"/>
                </a:solidFill>
                <a:latin typeface="Trebuchet MS" pitchFamily="34" charset="0"/>
                <a:ea typeface="Trebuchet MS" pitchFamily="34" charset="-122"/>
                <a:cs typeface="Trebuchet MS" pitchFamily="34" charset="-120"/>
              </a:rPr>
              <a:t>Conversational Commerce Disintermediation Risk</a:t>
            </a:r>
            <a:endParaRPr lang="en-US" sz="1150" dirty="0"/>
          </a:p>
        </p:txBody>
      </p:sp>
      <p:sp>
        <p:nvSpPr>
          <p:cNvPr id="29" name="Text 27"/>
          <p:cNvSpPr/>
          <p:nvPr/>
        </p:nvSpPr>
        <p:spPr>
          <a:xfrm>
            <a:off x="594360" y="4114800"/>
            <a:ext cx="7863840" cy="365760"/>
          </a:xfrm>
          <a:prstGeom prst="rect">
            <a:avLst/>
          </a:prstGeom>
          <a:noFill/>
          <a:ln/>
        </p:spPr>
        <p:txBody>
          <a:bodyPr wrap="square" lIns="0" tIns="0" rIns="0" bIns="0" rtlCol="0" anchor="ctr"/>
          <a:lstStyle/>
          <a:p>
            <a:pPr algn="l" indent="0" marL="0">
              <a:buNone/>
            </a:pPr>
            <a:r>
              <a:rPr lang="en-US" sz="950" dirty="0">
                <a:solidFill>
                  <a:srgbClr val="64748B"/>
                </a:solidFill>
                <a:latin typeface="Calibri" pitchFamily="34" charset="0"/>
                <a:ea typeface="Calibri" pitchFamily="34" charset="-122"/>
                <a:cs typeface="Calibri" pitchFamily="34" charset="-120"/>
              </a:rPr>
              <a:t>Retailers not integrated into ChatGPT/Gemini commerce flows risk disappearing at the moment of consumer intent. For IKEA, bedroom or living room furniture queries defaulting to competitors is a present-tense risk, not a future scenario.</a:t>
            </a:r>
            <a:endParaRPr lang="en-US" sz="950" dirty="0"/>
          </a:p>
        </p:txBody>
      </p:sp>
      <p:sp>
        <p:nvSpPr>
          <p:cNvPr id="30" name="Shape 28"/>
          <p:cNvSpPr/>
          <p:nvPr/>
        </p:nvSpPr>
        <p:spPr>
          <a:xfrm>
            <a:off x="502920" y="4681728"/>
            <a:ext cx="8138160" cy="0"/>
          </a:xfrm>
          <a:prstGeom prst="line">
            <a:avLst/>
          </a:prstGeom>
          <a:noFill/>
          <a:ln w="7620">
            <a:solidFill>
              <a:srgbClr val="CBD5E1"/>
            </a:solidFill>
            <a:prstDash val="solid"/>
          </a:ln>
        </p:spPr>
      </p:sp>
      <p:sp>
        <p:nvSpPr>
          <p:cNvPr id="31" name="Text 29"/>
          <p:cNvSpPr/>
          <p:nvPr/>
        </p:nvSpPr>
        <p:spPr>
          <a:xfrm>
            <a:off x="502920" y="4754880"/>
            <a:ext cx="1371600" cy="201168"/>
          </a:xfrm>
          <a:prstGeom prst="rect">
            <a:avLst/>
          </a:prstGeom>
          <a:noFill/>
          <a:ln/>
        </p:spPr>
        <p:txBody>
          <a:bodyPr wrap="square" lIns="0" tIns="0" rIns="0" bIns="0" rtlCol="0" anchor="ctr"/>
          <a:lstStyle/>
          <a:p>
            <a:pPr indent="0" marL="0">
              <a:buNone/>
            </a:pPr>
            <a:r>
              <a:rPr lang="en-US" sz="900" b="1" dirty="0">
                <a:solidFill>
                  <a:srgbClr val="003087"/>
                </a:solidFill>
                <a:latin typeface="Trebuchet MS" pitchFamily="34" charset="0"/>
                <a:ea typeface="Trebuchet MS" pitchFamily="34" charset="-122"/>
                <a:cs typeface="Trebuchet MS" pitchFamily="34" charset="-120"/>
              </a:rPr>
              <a:t>Sources</a:t>
            </a:r>
            <a:endParaRPr lang="en-US" sz="900" dirty="0"/>
          </a:p>
        </p:txBody>
      </p:sp>
      <p:sp>
        <p:nvSpPr>
          <p:cNvPr id="32" name="Text 30"/>
          <p:cNvSpPr/>
          <p:nvPr/>
        </p:nvSpPr>
        <p:spPr>
          <a:xfrm>
            <a:off x="502920" y="4937760"/>
            <a:ext cx="8229600" cy="228600"/>
          </a:xfrm>
          <a:prstGeom prst="rect">
            <a:avLst/>
          </a:prstGeom>
          <a:noFill/>
          <a:ln/>
        </p:spPr>
        <p:txBody>
          <a:bodyPr wrap="square" lIns="0" tIns="0" rIns="0" bIns="0" rtlCol="0" anchor="ctr"/>
          <a:lstStyle/>
          <a:p>
            <a:pPr algn="l" indent="0" marL="0">
              <a:buNone/>
            </a:pPr>
            <a:r>
              <a:rPr lang="en-US" sz="750" i="1" dirty="0">
                <a:solidFill>
                  <a:srgbClr val="64748B"/>
                </a:solidFill>
                <a:latin typeface="Calibri" pitchFamily="34" charset="0"/>
                <a:ea typeface="Calibri" pitchFamily="34" charset="-122"/>
                <a:cs typeface="Calibri" pitchFamily="34" charset="-120"/>
              </a:rPr>
              <a:t>AI Magazine · PYMNTS · Retail Dive · Business Insider · 247 Wall St. · Artificial Intelligence News · Supply Chain Dive · Yicai Global · TMTPOST · Cosmetics Business · Global Cosmetics News · ClickZ (Shoptalk Spring 2026) · Retail Technology Innovation Hub · eMarketer · Comms8 · Financial Content · Thomson Reuters 2026 Global Trade Report · Deloitte · KPMG · Impinj · Gartner · Everstream Analytics · NRF</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2026-04-19T05:02:25Z</dcterms:created>
  <dcterms:modified xsi:type="dcterms:W3CDTF">2026-04-19T05:02:25Z</dcterms:modified>
</cp:coreProperties>
</file>